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3" r:id="rId10"/>
    <p:sldId id="264" r:id="rId11"/>
    <p:sldId id="265" r:id="rId12"/>
    <p:sldId id="266" r:id="rId13"/>
    <p:sldId id="267" r:id="rId14"/>
    <p:sldId id="268" r:id="rId15"/>
    <p:sldId id="273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8069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3659" y="940003"/>
            <a:ext cx="1125352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Trading Zone + ProjectAntyScam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3073298" y="2140610"/>
            <a:ext cx="60487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 wykresu do kontraktu. Bez emocji. Zero-Trust.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561234" y="2612441"/>
            <a:ext cx="70774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Decyzje tradingowe + audyt kontraktu w jednym, prostym flow.</a:t>
            </a:r>
            <a:endParaRPr lang="en-US" sz="1600" dirty="0"/>
          </a:p>
        </p:txBody>
      </p:sp>
      <p:grpSp>
        <p:nvGrpSpPr>
          <p:cNvPr id="20" name="Grupa 19">
            <a:extLst>
              <a:ext uri="{FF2B5EF4-FFF2-40B4-BE49-F238E27FC236}">
                <a16:creationId xmlns:a16="http://schemas.microsoft.com/office/drawing/2014/main" id="{69CEC1DD-5D88-6E01-0547-45270F77CD7B}"/>
              </a:ext>
            </a:extLst>
          </p:cNvPr>
          <p:cNvGrpSpPr/>
          <p:nvPr/>
        </p:nvGrpSpPr>
        <p:grpSpPr>
          <a:xfrm>
            <a:off x="4858207" y="3403397"/>
            <a:ext cx="952805" cy="952805"/>
            <a:chOff x="4858207" y="3403397"/>
            <a:chExt cx="952805" cy="952805"/>
          </a:xfrm>
        </p:grpSpPr>
        <p:sp>
          <p:nvSpPr>
            <p:cNvPr id="6" name="Shape 4"/>
            <p:cNvSpPr/>
            <p:nvPr/>
          </p:nvSpPr>
          <p:spPr>
            <a:xfrm>
              <a:off x="4858207" y="3403397"/>
              <a:ext cx="952805" cy="952805"/>
            </a:xfrm>
            <a:prstGeom prst="ellipse">
              <a:avLst/>
            </a:prstGeom>
            <a:solidFill>
              <a:srgbClr val="1E293B"/>
            </a:solidFill>
            <a:ln w="38100">
              <a:solidFill>
                <a:srgbClr val="334155"/>
              </a:solidFill>
              <a:prstDash val="solid"/>
            </a:ln>
          </p:spPr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105095" y="3651199"/>
              <a:ext cx="457200" cy="457200"/>
            </a:xfrm>
            <a:prstGeom prst="rect">
              <a:avLst/>
            </a:prstGeom>
          </p:spPr>
        </p:pic>
      </p:grpSp>
      <p:grpSp>
        <p:nvGrpSpPr>
          <p:cNvPr id="23" name="Grupa 22">
            <a:extLst>
              <a:ext uri="{FF2B5EF4-FFF2-40B4-BE49-F238E27FC236}">
                <a16:creationId xmlns:a16="http://schemas.microsoft.com/office/drawing/2014/main" id="{642B0E39-4F9A-F46A-106C-8DB090423A70}"/>
              </a:ext>
            </a:extLst>
          </p:cNvPr>
          <p:cNvGrpSpPr/>
          <p:nvPr/>
        </p:nvGrpSpPr>
        <p:grpSpPr>
          <a:xfrm>
            <a:off x="6381598" y="3403397"/>
            <a:ext cx="952805" cy="952805"/>
            <a:chOff x="6381598" y="3403397"/>
            <a:chExt cx="952805" cy="952805"/>
          </a:xfrm>
        </p:grpSpPr>
        <p:sp>
          <p:nvSpPr>
            <p:cNvPr id="8" name="Shape 5"/>
            <p:cNvSpPr/>
            <p:nvPr/>
          </p:nvSpPr>
          <p:spPr>
            <a:xfrm>
              <a:off x="6381598" y="3403397"/>
              <a:ext cx="952805" cy="952805"/>
            </a:xfrm>
            <a:prstGeom prst="ellipse">
              <a:avLst/>
            </a:prstGeom>
            <a:solidFill>
              <a:srgbClr val="1E293B"/>
            </a:solidFill>
            <a:ln w="38100">
              <a:solidFill>
                <a:srgbClr val="334155"/>
              </a:solidFill>
              <a:prstDash val="solid"/>
            </a:ln>
          </p:spPr>
        </p:sp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629400" y="3651199"/>
              <a:ext cx="457200" cy="457200"/>
            </a:xfrm>
            <a:prstGeom prst="rect">
              <a:avLst/>
            </a:prstGeom>
          </p:spPr>
        </p:pic>
      </p:grpSp>
      <p:grpSp>
        <p:nvGrpSpPr>
          <p:cNvPr id="21" name="Grupa 20">
            <a:extLst>
              <a:ext uri="{FF2B5EF4-FFF2-40B4-BE49-F238E27FC236}">
                <a16:creationId xmlns:a16="http://schemas.microsoft.com/office/drawing/2014/main" id="{64D71A5E-05A4-E91F-9B56-BB2E8CFC2FAF}"/>
              </a:ext>
            </a:extLst>
          </p:cNvPr>
          <p:cNvGrpSpPr/>
          <p:nvPr/>
        </p:nvGrpSpPr>
        <p:grpSpPr>
          <a:xfrm>
            <a:off x="2095805" y="4927702"/>
            <a:ext cx="3619195" cy="990295"/>
            <a:chOff x="2095805" y="4927702"/>
            <a:chExt cx="3619195" cy="990295"/>
          </a:xfrm>
        </p:grpSpPr>
        <p:sp>
          <p:nvSpPr>
            <p:cNvPr id="10" name="Shape 6"/>
            <p:cNvSpPr/>
            <p:nvPr/>
          </p:nvSpPr>
          <p:spPr>
            <a:xfrm>
              <a:off x="2095805" y="4927702"/>
              <a:ext cx="3619195" cy="990295"/>
            </a:xfrm>
            <a:prstGeom prst="roundRect">
              <a:avLst>
                <a:gd name="adj" fmla="val 10654"/>
              </a:avLst>
            </a:prstGeom>
            <a:solidFill>
              <a:srgbClr val="1E293B"/>
            </a:solidFill>
            <a:ln w="25400">
              <a:solidFill>
                <a:srgbClr val="334155"/>
              </a:solidFill>
              <a:prstDash val="solid"/>
            </a:ln>
          </p:spPr>
        </p:sp>
        <p:sp>
          <p:nvSpPr>
            <p:cNvPr id="11" name="Shape 7"/>
            <p:cNvSpPr/>
            <p:nvPr/>
          </p:nvSpPr>
          <p:spPr>
            <a:xfrm>
              <a:off x="2400300" y="5137099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064E3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12" name="Image 2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2533802" y="5270602"/>
              <a:ext cx="304495" cy="304495"/>
            </a:xfrm>
            <a:prstGeom prst="rect">
              <a:avLst/>
            </a:prstGeom>
          </p:spPr>
        </p:pic>
        <p:sp>
          <p:nvSpPr>
            <p:cNvPr id="13" name="Text 8"/>
            <p:cNvSpPr txBox="1"/>
            <p:nvPr/>
          </p:nvSpPr>
          <p:spPr>
            <a:xfrm>
              <a:off x="3161995" y="5174590"/>
              <a:ext cx="2338121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Trading Zone</a:t>
              </a:r>
              <a:endParaRPr lang="en-US" sz="1300" dirty="0"/>
            </a:p>
          </p:txBody>
        </p:sp>
        <p:sp>
          <p:nvSpPr>
            <p:cNvPr id="14" name="Text 9"/>
            <p:cNvSpPr txBox="1"/>
            <p:nvPr/>
          </p:nvSpPr>
          <p:spPr>
            <a:xfrm>
              <a:off x="3161995" y="5469941"/>
              <a:ext cx="2338121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Trend &amp; Setup</a:t>
              </a:r>
              <a:endParaRPr lang="en-US" sz="1000" dirty="0"/>
            </a:p>
          </p:txBody>
        </p:sp>
      </p:grpSp>
      <p:grpSp>
        <p:nvGrpSpPr>
          <p:cNvPr id="22" name="Grupa 21">
            <a:extLst>
              <a:ext uri="{FF2B5EF4-FFF2-40B4-BE49-F238E27FC236}">
                <a16:creationId xmlns:a16="http://schemas.microsoft.com/office/drawing/2014/main" id="{1F51ACC7-87A3-0CFC-712F-B6FC4E159812}"/>
              </a:ext>
            </a:extLst>
          </p:cNvPr>
          <p:cNvGrpSpPr/>
          <p:nvPr/>
        </p:nvGrpSpPr>
        <p:grpSpPr>
          <a:xfrm>
            <a:off x="6476695" y="4927702"/>
            <a:ext cx="3619195" cy="990295"/>
            <a:chOff x="6476695" y="4927702"/>
            <a:chExt cx="3619195" cy="990295"/>
          </a:xfrm>
        </p:grpSpPr>
        <p:sp>
          <p:nvSpPr>
            <p:cNvPr id="15" name="Shape 10"/>
            <p:cNvSpPr/>
            <p:nvPr/>
          </p:nvSpPr>
          <p:spPr>
            <a:xfrm>
              <a:off x="6476695" y="4927702"/>
              <a:ext cx="3619195" cy="990295"/>
            </a:xfrm>
            <a:prstGeom prst="roundRect">
              <a:avLst>
                <a:gd name="adj" fmla="val 10654"/>
              </a:avLst>
            </a:prstGeom>
            <a:solidFill>
              <a:srgbClr val="1E293B"/>
            </a:solidFill>
            <a:ln w="25400">
              <a:solidFill>
                <a:srgbClr val="334155"/>
              </a:solidFill>
              <a:prstDash val="solid"/>
            </a:ln>
          </p:spPr>
        </p:sp>
        <p:sp>
          <p:nvSpPr>
            <p:cNvPr id="16" name="Shape 11"/>
            <p:cNvSpPr/>
            <p:nvPr/>
          </p:nvSpPr>
          <p:spPr>
            <a:xfrm>
              <a:off x="6782105" y="5137099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1E3A8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17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915607" y="5270602"/>
              <a:ext cx="304495" cy="304495"/>
            </a:xfrm>
            <a:prstGeom prst="rect">
              <a:avLst/>
            </a:prstGeom>
          </p:spPr>
        </p:pic>
        <p:sp>
          <p:nvSpPr>
            <p:cNvPr id="18" name="Text 12"/>
            <p:cNvSpPr txBox="1"/>
            <p:nvPr/>
          </p:nvSpPr>
          <p:spPr>
            <a:xfrm>
              <a:off x="7543800" y="5174590"/>
              <a:ext cx="2338121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ProjectAntyScam</a:t>
              </a:r>
              <a:endParaRPr lang="en-US" sz="1300" dirty="0"/>
            </a:p>
          </p:txBody>
        </p:sp>
        <p:sp>
          <p:nvSpPr>
            <p:cNvPr id="19" name="Text 13"/>
            <p:cNvSpPr txBox="1"/>
            <p:nvPr/>
          </p:nvSpPr>
          <p:spPr>
            <a:xfrm>
              <a:off x="7543800" y="5469941"/>
              <a:ext cx="2338121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94A3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Audit &amp; Proof</a:t>
              </a:r>
              <a:endParaRPr lang="en-US" sz="100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2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80644" y="476402"/>
            <a:ext cx="1103040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Dlaczego rynek potrzebuje naszych narzędzi?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2000707"/>
            <a:ext cx="10972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Skala strat jest ogromna — bo brakuje „proof + systemu decyzji".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66598" y="5222138"/>
            <a:ext cx="10858500" cy="1009498"/>
          </a:xfrm>
          <a:prstGeom prst="roundRect">
            <a:avLst>
              <a:gd name="adj" fmla="val 10254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1151" y="5479085"/>
            <a:ext cx="102303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Gdyby obecne narzędzia naprawdę rozwiązywały problem, te liczby byłyby drastycznie niższe. My łączymy </a:t>
            </a:r>
            <a:r>
              <a:rPr lang="en-US" sz="1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decyzję (Trading Zone) + weryfikację (</a:t>
            </a:r>
            <a:r>
              <a:rPr lang="en-US" sz="1200" b="1" dirty="0" err="1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AntyScam</a:t>
            </a:r>
            <a:r>
              <a:rPr lang="en-US" sz="1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r>
              <a:rPr lang="pl-PL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6414516"/>
            <a:ext cx="10972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Źródła: Chainalysis / ESMA / FCA / Coinbase/Investing.com</a:t>
            </a:r>
            <a:endParaRPr lang="en-US" sz="900" dirty="0"/>
          </a:p>
        </p:txBody>
      </p:sp>
      <p:grpSp>
        <p:nvGrpSpPr>
          <p:cNvPr id="26" name="Grupa 25">
            <a:extLst>
              <a:ext uri="{FF2B5EF4-FFF2-40B4-BE49-F238E27FC236}">
                <a16:creationId xmlns:a16="http://schemas.microsoft.com/office/drawing/2014/main" id="{5B4591FF-8711-5525-62A4-7DC1D0E5C52C}"/>
              </a:ext>
            </a:extLst>
          </p:cNvPr>
          <p:cNvGrpSpPr/>
          <p:nvPr/>
        </p:nvGrpSpPr>
        <p:grpSpPr>
          <a:xfrm>
            <a:off x="666598" y="2648102"/>
            <a:ext cx="3429000" cy="2247595"/>
            <a:chOff x="666598" y="2648102"/>
            <a:chExt cx="3429000" cy="2247595"/>
          </a:xfrm>
        </p:grpSpPr>
        <p:sp>
          <p:nvSpPr>
            <p:cNvPr id="8" name="Shape 6"/>
            <p:cNvSpPr/>
            <p:nvPr/>
          </p:nvSpPr>
          <p:spPr>
            <a:xfrm>
              <a:off x="666598" y="2648102"/>
              <a:ext cx="3429000" cy="2247595"/>
            </a:xfrm>
            <a:prstGeom prst="roundRect">
              <a:avLst>
                <a:gd name="adj" fmla="val 2758"/>
              </a:avLst>
            </a:prstGeom>
            <a:solidFill>
              <a:srgbClr val="1E293B"/>
            </a:solidFill>
            <a:ln w="25400">
              <a:solidFill>
                <a:srgbClr val="334155"/>
              </a:solidFill>
              <a:prstDash val="solid"/>
            </a:ln>
          </p:spPr>
        </p:sp>
        <p:grpSp>
          <p:nvGrpSpPr>
            <p:cNvPr id="23" name="Grupa 22">
              <a:extLst>
                <a:ext uri="{FF2B5EF4-FFF2-40B4-BE49-F238E27FC236}">
                  <a16:creationId xmlns:a16="http://schemas.microsoft.com/office/drawing/2014/main" id="{C12B6628-F221-3032-1D6F-65F6C6212641}"/>
                </a:ext>
              </a:extLst>
            </p:cNvPr>
            <p:cNvGrpSpPr/>
            <p:nvPr/>
          </p:nvGrpSpPr>
          <p:grpSpPr>
            <a:xfrm>
              <a:off x="666598" y="2648102"/>
              <a:ext cx="3390595" cy="1499616"/>
              <a:chOff x="666598" y="2648102"/>
              <a:chExt cx="3390595" cy="1499616"/>
            </a:xfrm>
          </p:grpSpPr>
          <p:sp>
            <p:nvSpPr>
              <p:cNvPr id="9" name="Shape 7"/>
              <p:cNvSpPr/>
              <p:nvPr/>
            </p:nvSpPr>
            <p:spPr>
              <a:xfrm>
                <a:off x="666598" y="2648102"/>
                <a:ext cx="3390595" cy="38405"/>
              </a:xfrm>
              <a:prstGeom prst="rect">
                <a:avLst/>
              </a:prstGeom>
              <a:solidFill>
                <a:srgbClr val="EF4444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0" name="Text 8"/>
              <p:cNvSpPr txBox="1"/>
              <p:nvPr/>
            </p:nvSpPr>
            <p:spPr>
              <a:xfrm>
                <a:off x="1493215" y="3000146"/>
                <a:ext cx="1783994" cy="5340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42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~$17B</a:t>
                </a:r>
                <a:endParaRPr lang="en-US" sz="4200" dirty="0"/>
              </a:p>
            </p:txBody>
          </p:sp>
          <p:sp>
            <p:nvSpPr>
              <p:cNvPr id="11" name="Text 9"/>
              <p:cNvSpPr txBox="1"/>
              <p:nvPr/>
            </p:nvSpPr>
            <p:spPr>
              <a:xfrm>
                <a:off x="790956" y="3648456"/>
                <a:ext cx="318577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Straty w crypto scamach (2025)</a:t>
                </a:r>
                <a:endParaRPr lang="en-US" sz="1300" dirty="0"/>
              </a:p>
            </p:txBody>
          </p:sp>
          <p:sp>
            <p:nvSpPr>
              <p:cNvPr id="12" name="Text 10"/>
              <p:cNvSpPr txBox="1"/>
              <p:nvPr/>
            </p:nvSpPr>
            <p:spPr>
              <a:xfrm>
                <a:off x="768096" y="3966667"/>
                <a:ext cx="3230575" cy="1810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64748B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(AI-impersonation / fraud — dane Chainalysis)</a:t>
                </a:r>
                <a:endParaRPr lang="en-US" sz="900" dirty="0"/>
              </a:p>
            </p:txBody>
          </p:sp>
        </p:grpSp>
      </p:grpSp>
      <p:grpSp>
        <p:nvGrpSpPr>
          <p:cNvPr id="27" name="Grupa 26">
            <a:extLst>
              <a:ext uri="{FF2B5EF4-FFF2-40B4-BE49-F238E27FC236}">
                <a16:creationId xmlns:a16="http://schemas.microsoft.com/office/drawing/2014/main" id="{F98EB104-FE6B-1991-D26A-C3EC86E10709}"/>
              </a:ext>
            </a:extLst>
          </p:cNvPr>
          <p:cNvGrpSpPr/>
          <p:nvPr/>
        </p:nvGrpSpPr>
        <p:grpSpPr>
          <a:xfrm>
            <a:off x="4381805" y="2648102"/>
            <a:ext cx="3429000" cy="2247595"/>
            <a:chOff x="4381805" y="2648102"/>
            <a:chExt cx="3429000" cy="2247595"/>
          </a:xfrm>
        </p:grpSpPr>
        <p:sp>
          <p:nvSpPr>
            <p:cNvPr id="13" name="Shape 11"/>
            <p:cNvSpPr/>
            <p:nvPr/>
          </p:nvSpPr>
          <p:spPr>
            <a:xfrm>
              <a:off x="4381805" y="2648102"/>
              <a:ext cx="3429000" cy="2247595"/>
            </a:xfrm>
            <a:prstGeom prst="roundRect">
              <a:avLst>
                <a:gd name="adj" fmla="val 2758"/>
              </a:avLst>
            </a:prstGeom>
            <a:solidFill>
              <a:srgbClr val="1E293B"/>
            </a:solidFill>
            <a:ln w="25400">
              <a:solidFill>
                <a:srgbClr val="334155"/>
              </a:solidFill>
              <a:prstDash val="solid"/>
            </a:ln>
          </p:spPr>
        </p:sp>
        <p:grpSp>
          <p:nvGrpSpPr>
            <p:cNvPr id="24" name="Grupa 23">
              <a:extLst>
                <a:ext uri="{FF2B5EF4-FFF2-40B4-BE49-F238E27FC236}">
                  <a16:creationId xmlns:a16="http://schemas.microsoft.com/office/drawing/2014/main" id="{70A80767-2093-3946-F0A7-2E07F9C93AA7}"/>
                </a:ext>
              </a:extLst>
            </p:cNvPr>
            <p:cNvGrpSpPr/>
            <p:nvPr/>
          </p:nvGrpSpPr>
          <p:grpSpPr>
            <a:xfrm>
              <a:off x="4381805" y="2648102"/>
              <a:ext cx="3390595" cy="1893722"/>
              <a:chOff x="4381805" y="2648102"/>
              <a:chExt cx="3390595" cy="1893722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4381805" y="2648102"/>
                <a:ext cx="3390595" cy="38405"/>
              </a:xfrm>
              <a:prstGeom prst="rect">
                <a:avLst/>
              </a:prstGeom>
              <a:solidFill>
                <a:srgbClr val="EF4444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5" name="Text 13"/>
              <p:cNvSpPr txBox="1"/>
              <p:nvPr/>
            </p:nvSpPr>
            <p:spPr>
              <a:xfrm>
                <a:off x="4945990" y="3000146"/>
                <a:ext cx="2304288" cy="5340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42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74–89%</a:t>
                </a:r>
                <a:endParaRPr lang="en-US" sz="4200" dirty="0"/>
              </a:p>
            </p:txBody>
          </p:sp>
          <p:sp>
            <p:nvSpPr>
              <p:cNvPr id="16" name="Text 14"/>
              <p:cNvSpPr txBox="1"/>
              <p:nvPr/>
            </p:nvSpPr>
            <p:spPr>
              <a:xfrm>
                <a:off x="4600346" y="3648456"/>
                <a:ext cx="2991002" cy="4480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Rachunki detaliczne tracą na produktach lewarowanych</a:t>
                </a:r>
                <a:endParaRPr lang="en-US" sz="1300" dirty="0"/>
              </a:p>
            </p:txBody>
          </p:sp>
          <p:sp>
            <p:nvSpPr>
              <p:cNvPr id="17" name="Text 15"/>
              <p:cNvSpPr txBox="1"/>
              <p:nvPr/>
            </p:nvSpPr>
            <p:spPr>
              <a:xfrm>
                <a:off x="4600346" y="4188866"/>
                <a:ext cx="2991002" cy="35295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64748B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(ESMA: odsetek kont tracących na CFD; FCA ~80%)</a:t>
                </a:r>
                <a:endParaRPr lang="en-US" sz="900" dirty="0"/>
              </a:p>
            </p:txBody>
          </p:sp>
        </p:grpSp>
      </p:grpSp>
      <p:grpSp>
        <p:nvGrpSpPr>
          <p:cNvPr id="28" name="Grupa 27">
            <a:extLst>
              <a:ext uri="{FF2B5EF4-FFF2-40B4-BE49-F238E27FC236}">
                <a16:creationId xmlns:a16="http://schemas.microsoft.com/office/drawing/2014/main" id="{5268204D-04C3-94E5-375D-003E11001D6E}"/>
              </a:ext>
            </a:extLst>
          </p:cNvPr>
          <p:cNvGrpSpPr/>
          <p:nvPr/>
        </p:nvGrpSpPr>
        <p:grpSpPr>
          <a:xfrm>
            <a:off x="8096098" y="2648102"/>
            <a:ext cx="3429000" cy="2247595"/>
            <a:chOff x="8096098" y="2648102"/>
            <a:chExt cx="3429000" cy="2247595"/>
          </a:xfrm>
        </p:grpSpPr>
        <p:sp>
          <p:nvSpPr>
            <p:cNvPr id="18" name="Shape 16"/>
            <p:cNvSpPr/>
            <p:nvPr/>
          </p:nvSpPr>
          <p:spPr>
            <a:xfrm>
              <a:off x="8096098" y="2648102"/>
              <a:ext cx="3429000" cy="2247595"/>
            </a:xfrm>
            <a:prstGeom prst="roundRect">
              <a:avLst>
                <a:gd name="adj" fmla="val 2758"/>
              </a:avLst>
            </a:prstGeom>
            <a:solidFill>
              <a:srgbClr val="1E293B"/>
            </a:solidFill>
            <a:ln w="25400">
              <a:solidFill>
                <a:srgbClr val="334155"/>
              </a:solidFill>
              <a:prstDash val="solid"/>
            </a:ln>
          </p:spPr>
        </p:sp>
        <p:grpSp>
          <p:nvGrpSpPr>
            <p:cNvPr id="25" name="Grupa 24">
              <a:extLst>
                <a:ext uri="{FF2B5EF4-FFF2-40B4-BE49-F238E27FC236}">
                  <a16:creationId xmlns:a16="http://schemas.microsoft.com/office/drawing/2014/main" id="{C93E13D0-6D8C-4E4C-BD0C-A0AA5B8E5545}"/>
                </a:ext>
              </a:extLst>
            </p:cNvPr>
            <p:cNvGrpSpPr/>
            <p:nvPr/>
          </p:nvGrpSpPr>
          <p:grpSpPr>
            <a:xfrm>
              <a:off x="8096098" y="2648102"/>
              <a:ext cx="3411626" cy="1499616"/>
              <a:chOff x="8096098" y="2648102"/>
              <a:chExt cx="3411626" cy="1499616"/>
            </a:xfrm>
          </p:grpSpPr>
          <p:sp>
            <p:nvSpPr>
              <p:cNvPr id="19" name="Shape 17"/>
              <p:cNvSpPr/>
              <p:nvPr/>
            </p:nvSpPr>
            <p:spPr>
              <a:xfrm>
                <a:off x="8096098" y="2648102"/>
                <a:ext cx="3390595" cy="38405"/>
              </a:xfrm>
              <a:prstGeom prst="rect">
                <a:avLst/>
              </a:prstGeom>
              <a:solidFill>
                <a:srgbClr val="3B82F6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20" name="Text 18"/>
              <p:cNvSpPr txBox="1"/>
              <p:nvPr/>
            </p:nvSpPr>
            <p:spPr>
              <a:xfrm>
                <a:off x="8750808" y="3000146"/>
                <a:ext cx="2129638" cy="5340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42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~$2.3T</a:t>
                </a:r>
                <a:endParaRPr lang="en-US" sz="4200" dirty="0"/>
              </a:p>
            </p:txBody>
          </p:sp>
          <p:sp>
            <p:nvSpPr>
              <p:cNvPr id="21" name="Text 19"/>
              <p:cNvSpPr txBox="1"/>
              <p:nvPr/>
            </p:nvSpPr>
            <p:spPr>
              <a:xfrm>
                <a:off x="8118043" y="3648456"/>
                <a:ext cx="3389681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Kapitalizacja rynku krypto (global)</a:t>
                </a:r>
                <a:endParaRPr lang="en-US" sz="1300" dirty="0"/>
              </a:p>
            </p:txBody>
          </p:sp>
          <p:sp>
            <p:nvSpPr>
              <p:cNvPr id="22" name="Text 20"/>
              <p:cNvSpPr txBox="1"/>
              <p:nvPr/>
            </p:nvSpPr>
            <p:spPr>
              <a:xfrm>
                <a:off x="8230514" y="3966667"/>
                <a:ext cx="3162910" cy="1810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64748B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(wartość zmienna — rząd wielkości „triliony")</a:t>
                </a:r>
                <a:endParaRPr lang="en-US" sz="900" dirty="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3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3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30"/>
                            </p:stCondLst>
                            <p:childTnLst>
                              <p:par>
                                <p:cTn id="21" presetID="45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96519" y="428854"/>
            <a:ext cx="11199571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ProjectAntyScam — automatyczny system </a:t>
            </a:r>
            <a:r>
              <a:rPr lang="en-US" sz="3100" b="1" kern="0" spc="-37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mailingowy</a:t>
            </a: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352043" y="1093126"/>
            <a:ext cx="11163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Skan blockchaina </a:t>
            </a:r>
            <a:r>
              <a:rPr lang="en-US" sz="13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Ethereum</a:t>
            </a: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audyt kodu → decyzja → </a:t>
            </a:r>
            <a:r>
              <a:rPr lang="en-US" sz="13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e-mail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8309" y="5505116"/>
            <a:ext cx="11048695" cy="752551"/>
          </a:xfrm>
          <a:prstGeom prst="roundRect">
            <a:avLst>
              <a:gd name="adj" fmla="val 15381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6850" y="5810103"/>
            <a:ext cx="106116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Technologia:</a:t>
            </a: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System wykorzystuje autorską sztuczną inteligencję, uczącą się na regexach, wzorcach kodu i rzeczywistych przypadkach produkcyjnych. </a:t>
            </a: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 1 działa w pełni niezależnie</a:t>
            </a: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bez interfejsu webowego.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7395" y="1693585"/>
            <a:ext cx="5381244" cy="3633424"/>
          </a:xfrm>
          <a:prstGeom prst="roundRect">
            <a:avLst>
              <a:gd name="adj" fmla="val 769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7395" y="1693585"/>
            <a:ext cx="5343754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4341" y="1979793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5665" y="2074890"/>
            <a:ext cx="237744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99946" y="2055688"/>
            <a:ext cx="24633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Jak działa etap 1 (24/7)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41" y="2551293"/>
            <a:ext cx="267005" cy="2670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04341" y="2551293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313993" y="2551293"/>
            <a:ext cx="45720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Monitorujemy blockchain Ethereum 24/7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41" y="2950885"/>
            <a:ext cx="267005" cy="26700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4341" y="2950885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1313993" y="2950885"/>
            <a:ext cx="45720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Wykrywamy wszystkie nowe, zweryfikowane smart kontrakty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41" y="3351393"/>
            <a:ext cx="267005" cy="26700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4341" y="3351393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1313993" y="3399994"/>
            <a:ext cx="45345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Każdy kontrakt przechodzi automatyczny audyt bezpieczeństwa kodu</a:t>
            </a:r>
            <a:endParaRPr lang="en-US" sz="10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" y="3755169"/>
            <a:ext cx="267005" cy="26700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94283" y="3755169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1313993" y="3773389"/>
            <a:ext cx="45720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Przyznajemy ocenę ryzyka w skali 1–10</a:t>
            </a:r>
            <a:endParaRPr lang="en-US" sz="10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" y="4160289"/>
            <a:ext cx="267005" cy="26700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94283" y="4160289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1313993" y="4201819"/>
            <a:ext cx="45720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Alert: kontrakty oczekujące na LP</a:t>
            </a:r>
            <a:endParaRPr lang="en-US" sz="10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" y="4560797"/>
            <a:ext cx="267005" cy="26700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94283" y="4560797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1285646" y="4574970"/>
            <a:ext cx="45720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Generujemy rekomendację: GO / REVIEW / NO-GO</a:t>
            </a:r>
            <a:endParaRPr lang="en-US" sz="10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" y="4960389"/>
            <a:ext cx="267005" cy="26700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94283" y="4960389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Text 22"/>
          <p:cNvSpPr txBox="1"/>
          <p:nvPr/>
        </p:nvSpPr>
        <p:spPr>
          <a:xfrm>
            <a:off x="1276503" y="4953981"/>
            <a:ext cx="45720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Całość trafia bezpośrednio do subskrybentów e-mailem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6314846" y="1693585"/>
            <a:ext cx="5381244" cy="3633424"/>
          </a:xfrm>
          <a:prstGeom prst="roundRect">
            <a:avLst>
              <a:gd name="adj" fmla="val 769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6314846" y="1693585"/>
            <a:ext cx="5343754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6571793" y="1979793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66890" y="2074890"/>
            <a:ext cx="190195" cy="190195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7067397" y="2055688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 otrzymuje subskrybent</a:t>
            </a:r>
            <a:endParaRPr lang="en-US" sz="1200" dirty="0"/>
          </a:p>
        </p:txBody>
      </p:sp>
      <p:sp>
        <p:nvSpPr>
          <p:cNvPr id="38" name="Shape 27"/>
          <p:cNvSpPr/>
          <p:nvPr/>
        </p:nvSpPr>
        <p:spPr>
          <a:xfrm>
            <a:off x="6571793" y="2570495"/>
            <a:ext cx="190195" cy="190195"/>
          </a:xfrm>
          <a:prstGeom prst="roundRect">
            <a:avLst>
              <a:gd name="adj" fmla="val 96154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14769" y="2612557"/>
            <a:ext cx="105156" cy="105156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6877202" y="2551293"/>
            <a:ext cx="46387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 kontraktów oczekujących na LP (brak płynności → brak możliwości handlu)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>
            <a:off x="6571793" y="2875482"/>
            <a:ext cx="190195" cy="190195"/>
          </a:xfrm>
          <a:prstGeom prst="roundRect">
            <a:avLst>
              <a:gd name="adj" fmla="val 96154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04022" y="2917544"/>
            <a:ext cx="105156" cy="105156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6877202" y="2832808"/>
            <a:ext cx="46387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Zbiorczy raport NO-GO — kontrakty z wykrytymi ukrytymi pułapkami w kodzie</a:t>
            </a:r>
            <a:endParaRPr lang="en-US" sz="1000" dirty="0"/>
          </a:p>
        </p:txBody>
      </p:sp>
      <p:sp>
        <p:nvSpPr>
          <p:cNvPr id="44" name="Shape 31"/>
          <p:cNvSpPr/>
          <p:nvPr/>
        </p:nvSpPr>
        <p:spPr>
          <a:xfrm>
            <a:off x="6561502" y="3171596"/>
            <a:ext cx="190195" cy="190195"/>
          </a:xfrm>
          <a:prstGeom prst="roundRect">
            <a:avLst>
              <a:gd name="adj" fmla="val 96154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04022" y="3183848"/>
            <a:ext cx="105156" cy="105156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6877202" y="3108728"/>
            <a:ext cx="4638751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Indywidualne alerty GO / REVIEW — kontrakty, w których kod nie zawiera ewidentnych pułapek, nasza AI nie wykryła żadnych wątpliwości</a:t>
            </a:r>
            <a:endParaRPr lang="en-US" sz="1000" dirty="0"/>
          </a:p>
        </p:txBody>
      </p:sp>
      <p:pic>
        <p:nvPicPr>
          <p:cNvPr id="48" name="Obraz 47">
            <a:extLst>
              <a:ext uri="{FF2B5EF4-FFF2-40B4-BE49-F238E27FC236}">
                <a16:creationId xmlns:a16="http://schemas.microsoft.com/office/drawing/2014/main" id="{FB007898-21DE-3DD7-B53E-0B9C225C43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6890" y="3713003"/>
            <a:ext cx="4461679" cy="1356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96519" y="428854"/>
            <a:ext cx="11199571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Etap 2 — Strona internetowa i serce ProjectAntyScam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96519" y="913104"/>
            <a:ext cx="11163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Kod to za mało. Analizujemy cały kontekst projektu.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022" y="1526023"/>
            <a:ext cx="11049608" cy="1759078"/>
          </a:xfrm>
          <a:prstGeom prst="roundRect">
            <a:avLst>
              <a:gd name="adj" fmla="val 2768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021" y="1518709"/>
            <a:ext cx="11030407" cy="45719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6229" y="1773825"/>
            <a:ext cx="412314" cy="379133"/>
          </a:xfrm>
          <a:prstGeom prst="roundRect">
            <a:avLst>
              <a:gd name="adj" fmla="val 49623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0470" y="1878981"/>
            <a:ext cx="206157" cy="20615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8526" y="1854293"/>
            <a:ext cx="3334521" cy="23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Dlaczego sam kod nie wystarcza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6229" y="2412076"/>
            <a:ext cx="74720" cy="68707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06423" y="2345325"/>
            <a:ext cx="10240326" cy="20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 smart kontraktu to punkt wyjścia, nie koniec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6229" y="2735774"/>
            <a:ext cx="74720" cy="68707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06423" y="2669023"/>
            <a:ext cx="10240326" cy="20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Ryzyko często nie leży w kodzie, lecz w kontekście projektu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16229" y="3059472"/>
            <a:ext cx="74720" cy="68707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06423" y="2992720"/>
            <a:ext cx="10240326" cy="20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Dlatego wychodzimy poza sam smart contract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30935" y="3419726"/>
            <a:ext cx="11048695" cy="2266798"/>
          </a:xfrm>
          <a:prstGeom prst="roundRect">
            <a:avLst>
              <a:gd name="adj" fmla="val 2034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5" y="3423576"/>
            <a:ext cx="11011205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9536" y="3729456"/>
            <a:ext cx="418795" cy="418795"/>
          </a:xfrm>
          <a:prstGeom prst="roundRect">
            <a:avLst>
              <a:gd name="adj" fmla="val 49623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3778" y="3834612"/>
            <a:ext cx="209398" cy="20939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411834" y="3809923"/>
            <a:ext cx="32772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 analizujemy na stronie WWW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859536" y="4367707"/>
            <a:ext cx="75895" cy="75895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049731" y="4300956"/>
            <a:ext cx="1040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 manualna kontraktów (nowo powstałych oraz już istniejących na rynku)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59536" y="4691405"/>
            <a:ext cx="75895" cy="75895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049731" y="4624654"/>
            <a:ext cx="1040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Aktualni holderzy — liczba, koncentracja, struktura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59536" y="5015103"/>
            <a:ext cx="75895" cy="75895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49731" y="4948351"/>
            <a:ext cx="1040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 the Money — pochodzenie środków i finansowanie projektu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859536" y="5338800"/>
            <a:ext cx="75895" cy="75895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049731" y="5272049"/>
            <a:ext cx="1040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Potential — podsumowanie naszego werdyktu + poziom centralizacji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30935" y="5667321"/>
            <a:ext cx="11011205" cy="38405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765B7689-4DAB-2C74-E3FD-97CB9BD3E01D}"/>
              </a:ext>
            </a:extLst>
          </p:cNvPr>
          <p:cNvSpPr/>
          <p:nvPr/>
        </p:nvSpPr>
        <p:spPr>
          <a:xfrm>
            <a:off x="639622" y="3265806"/>
            <a:ext cx="11030407" cy="45719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Obraz 43">
            <a:extLst>
              <a:ext uri="{FF2B5EF4-FFF2-40B4-BE49-F238E27FC236}">
                <a16:creationId xmlns:a16="http://schemas.microsoft.com/office/drawing/2014/main" id="{1AB9A023-2031-A984-E54E-F0CC1B9A5B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7937" y="3632815"/>
            <a:ext cx="1828419" cy="1860016"/>
          </a:xfrm>
          <a:prstGeom prst="rect">
            <a:avLst/>
          </a:prstGeom>
        </p:spPr>
      </p:pic>
      <p:pic>
        <p:nvPicPr>
          <p:cNvPr id="45" name="Obraz 44">
            <a:extLst>
              <a:ext uri="{FF2B5EF4-FFF2-40B4-BE49-F238E27FC236}">
                <a16:creationId xmlns:a16="http://schemas.microsoft.com/office/drawing/2014/main" id="{72DC4B4F-1A72-37A2-A150-E1DB19E1B72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67022" y="3706790"/>
            <a:ext cx="2666240" cy="1649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6402" y="428854"/>
            <a:ext cx="11239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3600" b="1" kern="0" spc="-37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Analiza </a:t>
            </a:r>
            <a:r>
              <a:rPr lang="en-US" sz="36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 </a:t>
            </a:r>
            <a:r>
              <a:rPr lang="pl-PL" sz="36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kilka</a:t>
            </a:r>
            <a:r>
              <a:rPr lang="en-US" sz="36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sekund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14807" y="1228954"/>
            <a:ext cx="11163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Długoterminowa ochrona kapitału zaczyna się od weryfikacji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" y="1735531"/>
            <a:ext cx="2619756" cy="2238451"/>
          </a:xfrm>
          <a:prstGeom prst="roundRect">
            <a:avLst>
              <a:gd name="adj" fmla="val 2086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735531"/>
            <a:ext cx="2581351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1983334"/>
            <a:ext cx="571500" cy="571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95628" y="1983334"/>
            <a:ext cx="571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652321" y="270662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66621" y="2820924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41248" y="3297326"/>
            <a:ext cx="20857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Wklejasz adres kontraktu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381451" y="1735531"/>
            <a:ext cx="2619756" cy="2238451"/>
          </a:xfrm>
          <a:prstGeom prst="roundRect">
            <a:avLst>
              <a:gd name="adj" fmla="val 2086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81451" y="1735531"/>
            <a:ext cx="2581351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579" y="1983334"/>
            <a:ext cx="571500" cy="571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05579" y="1983334"/>
            <a:ext cx="571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Shape 11"/>
          <p:cNvSpPr/>
          <p:nvPr/>
        </p:nvSpPr>
        <p:spPr>
          <a:xfrm>
            <a:off x="4462272" y="270662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rcRect t="-80" b="-80"/>
          <a:stretch/>
        </p:blipFill>
        <p:spPr>
          <a:xfrm>
            <a:off x="4619549" y="2820924"/>
            <a:ext cx="142646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957523" y="3297326"/>
            <a:ext cx="14740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Klikasz „Analizuj"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191402" y="1735531"/>
            <a:ext cx="2619756" cy="2238451"/>
          </a:xfrm>
          <a:prstGeom prst="roundRect">
            <a:avLst>
              <a:gd name="adj" fmla="val 2086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1402" y="1735531"/>
            <a:ext cx="2581351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530" y="1983334"/>
            <a:ext cx="571500" cy="5715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15530" y="1983334"/>
            <a:ext cx="571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Shape 16"/>
          <p:cNvSpPr/>
          <p:nvPr/>
        </p:nvSpPr>
        <p:spPr>
          <a:xfrm>
            <a:off x="7272223" y="270662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7414870" y="2820924"/>
            <a:ext cx="171907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344107" y="3297326"/>
            <a:ext cx="23152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Otrzymujesz werdykt: GO / REVIEW / NO-GO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9001354" y="1735531"/>
            <a:ext cx="2619756" cy="2238451"/>
          </a:xfrm>
          <a:prstGeom prst="roundRect">
            <a:avLst>
              <a:gd name="adj" fmla="val 2086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9001354" y="1735531"/>
            <a:ext cx="2581351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5482" y="1983334"/>
            <a:ext cx="571500" cy="5715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025482" y="1983334"/>
            <a:ext cx="5715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Shape 21"/>
          <p:cNvSpPr/>
          <p:nvPr/>
        </p:nvSpPr>
        <p:spPr>
          <a:xfrm>
            <a:off x="10082174" y="270662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196474" y="2820924"/>
            <a:ext cx="228600" cy="22860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9153144" y="3297326"/>
            <a:ext cx="23152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Sprawdzasz dowód (Show Proof + Etherscan)</a:t>
            </a:r>
            <a:endParaRPr lang="en-US" sz="1100" dirty="0"/>
          </a:p>
        </p:txBody>
      </p:sp>
      <p:grpSp>
        <p:nvGrpSpPr>
          <p:cNvPr id="56" name="Grupa 55">
            <a:extLst>
              <a:ext uri="{FF2B5EF4-FFF2-40B4-BE49-F238E27FC236}">
                <a16:creationId xmlns:a16="http://schemas.microsoft.com/office/drawing/2014/main" id="{31D60317-D105-7BB4-3C5C-240CB5C7255F}"/>
              </a:ext>
            </a:extLst>
          </p:cNvPr>
          <p:cNvGrpSpPr/>
          <p:nvPr/>
        </p:nvGrpSpPr>
        <p:grpSpPr>
          <a:xfrm>
            <a:off x="571500" y="4240987"/>
            <a:ext cx="11048695" cy="1790395"/>
            <a:chOff x="571500" y="4240987"/>
            <a:chExt cx="11048695" cy="1790395"/>
          </a:xfrm>
        </p:grpSpPr>
        <p:sp>
          <p:nvSpPr>
            <p:cNvPr id="33" name="Shape 23"/>
            <p:cNvSpPr/>
            <p:nvPr/>
          </p:nvSpPr>
          <p:spPr>
            <a:xfrm>
              <a:off x="571500" y="4240987"/>
              <a:ext cx="11048695" cy="1790395"/>
            </a:xfrm>
            <a:prstGeom prst="roundRect">
              <a:avLst>
                <a:gd name="adj" fmla="val 3260"/>
              </a:avLst>
            </a:prstGeom>
            <a:solidFill>
              <a:srgbClr val="1E293B"/>
            </a:solidFill>
            <a:ln w="25400">
              <a:solidFill>
                <a:srgbClr val="334155"/>
              </a:solidFill>
              <a:prstDash val="solid"/>
            </a:ln>
          </p:spPr>
        </p:sp>
        <p:sp>
          <p:nvSpPr>
            <p:cNvPr id="34" name="Shape 24"/>
            <p:cNvSpPr/>
            <p:nvPr/>
          </p:nvSpPr>
          <p:spPr>
            <a:xfrm>
              <a:off x="571500" y="4240987"/>
              <a:ext cx="11011205" cy="38405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grpSp>
          <p:nvGrpSpPr>
            <p:cNvPr id="50" name="Grupa 49">
              <a:extLst>
                <a:ext uri="{FF2B5EF4-FFF2-40B4-BE49-F238E27FC236}">
                  <a16:creationId xmlns:a16="http://schemas.microsoft.com/office/drawing/2014/main" id="{7B514BB8-1AB6-0B02-43F0-FDB737CC035A}"/>
                </a:ext>
              </a:extLst>
            </p:cNvPr>
            <p:cNvGrpSpPr/>
            <p:nvPr/>
          </p:nvGrpSpPr>
          <p:grpSpPr>
            <a:xfrm>
              <a:off x="895198" y="4507078"/>
              <a:ext cx="457200" cy="457200"/>
              <a:chOff x="895198" y="4507078"/>
              <a:chExt cx="457200" cy="457200"/>
            </a:xfrm>
          </p:grpSpPr>
          <p:sp>
            <p:nvSpPr>
              <p:cNvPr id="35" name="Shape 25"/>
              <p:cNvSpPr/>
              <p:nvPr/>
            </p:nvSpPr>
            <p:spPr>
              <a:xfrm>
                <a:off x="895198" y="4507078"/>
                <a:ext cx="457200" cy="457200"/>
              </a:xfrm>
              <a:prstGeom prst="roundRect">
                <a:avLst>
                  <a:gd name="adj" fmla="val 41667"/>
                </a:avLst>
              </a:prstGeom>
              <a:solidFill>
                <a:srgbClr val="1E3A8A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pic>
            <p:nvPicPr>
              <p:cNvPr id="36" name="Image 8" descr="preencoded.png"/>
              <p:cNvPicPr>
                <a:picLocks noChangeAspect="1"/>
              </p:cNvPicPr>
              <p:nvPr/>
            </p:nvPicPr>
            <p:blipFill>
              <a:blip r:embed="rId8"/>
              <a:srcRect/>
              <a:stretch/>
            </p:blipFill>
            <p:spPr>
              <a:xfrm>
                <a:off x="1009498" y="4621378"/>
                <a:ext cx="228600" cy="228600"/>
              </a:xfrm>
              <a:prstGeom prst="rect">
                <a:avLst/>
              </a:prstGeom>
            </p:spPr>
          </p:pic>
        </p:grpSp>
        <p:sp>
          <p:nvSpPr>
            <p:cNvPr id="37" name="Text 26"/>
            <p:cNvSpPr txBox="1"/>
            <p:nvPr/>
          </p:nvSpPr>
          <p:spPr>
            <a:xfrm>
              <a:off x="1485900" y="4593031"/>
              <a:ext cx="1500530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kern="0" spc="22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 dostajesz</a:t>
              </a:r>
              <a:endParaRPr lang="en-US" sz="1500" dirty="0"/>
            </a:p>
          </p:txBody>
        </p:sp>
        <p:grpSp>
          <p:nvGrpSpPr>
            <p:cNvPr id="52" name="Grupa 51">
              <a:extLst>
                <a:ext uri="{FF2B5EF4-FFF2-40B4-BE49-F238E27FC236}">
                  <a16:creationId xmlns:a16="http://schemas.microsoft.com/office/drawing/2014/main" id="{D0C6B7C6-56D8-6FE0-4E35-0DFA6B9009BA}"/>
                </a:ext>
              </a:extLst>
            </p:cNvPr>
            <p:cNvGrpSpPr/>
            <p:nvPr/>
          </p:nvGrpSpPr>
          <p:grpSpPr>
            <a:xfrm>
              <a:off x="895198" y="5155387"/>
              <a:ext cx="228600" cy="228600"/>
              <a:chOff x="895198" y="5155387"/>
              <a:chExt cx="228600" cy="228600"/>
            </a:xfrm>
          </p:grpSpPr>
          <p:sp>
            <p:nvSpPr>
              <p:cNvPr id="38" name="Shape 27"/>
              <p:cNvSpPr/>
              <p:nvPr/>
            </p:nvSpPr>
            <p:spPr>
              <a:xfrm>
                <a:off x="895198" y="5155387"/>
                <a:ext cx="228600" cy="228600"/>
              </a:xfrm>
              <a:prstGeom prst="roundRect">
                <a:avLst>
                  <a:gd name="adj" fmla="val 100000"/>
                </a:avLst>
              </a:prstGeom>
              <a:solidFill>
                <a:srgbClr val="064E3B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pic>
            <p:nvPicPr>
              <p:cNvPr id="39" name="Image 9" descr="preencoded.png"/>
              <p:cNvPicPr>
                <a:picLocks noChangeAspect="1"/>
              </p:cNvPicPr>
              <p:nvPr/>
            </p:nvPicPr>
            <p:blipFill>
              <a:blip r:embed="rId9"/>
              <a:srcRect t="-1359" b="-1359"/>
              <a:stretch/>
            </p:blipFill>
            <p:spPr>
              <a:xfrm>
                <a:off x="957377" y="5207508"/>
                <a:ext cx="105156" cy="123444"/>
              </a:xfrm>
              <a:prstGeom prst="rect">
                <a:avLst/>
              </a:prstGeom>
            </p:spPr>
          </p:pic>
        </p:grpSp>
        <p:sp>
          <p:nvSpPr>
            <p:cNvPr id="40" name="Text 28"/>
            <p:cNvSpPr txBox="1"/>
            <p:nvPr/>
          </p:nvSpPr>
          <p:spPr>
            <a:xfrm>
              <a:off x="1238098" y="5136185"/>
              <a:ext cx="490575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CBD5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Najważniejsze czerwone flagi (jeśli występują)</a:t>
              </a:r>
              <a:endParaRPr lang="en-US" sz="1100" dirty="0"/>
            </a:p>
          </p:txBody>
        </p:sp>
        <p:grpSp>
          <p:nvGrpSpPr>
            <p:cNvPr id="53" name="Grupa 52">
              <a:extLst>
                <a:ext uri="{FF2B5EF4-FFF2-40B4-BE49-F238E27FC236}">
                  <a16:creationId xmlns:a16="http://schemas.microsoft.com/office/drawing/2014/main" id="{DDE92AD6-2EDE-3F64-3B31-A5FDA2A976B2}"/>
                </a:ext>
              </a:extLst>
            </p:cNvPr>
            <p:cNvGrpSpPr/>
            <p:nvPr/>
          </p:nvGrpSpPr>
          <p:grpSpPr>
            <a:xfrm>
              <a:off x="6163056" y="5155387"/>
              <a:ext cx="228600" cy="228600"/>
              <a:chOff x="6163056" y="5155387"/>
              <a:chExt cx="228600" cy="228600"/>
            </a:xfrm>
          </p:grpSpPr>
          <p:sp>
            <p:nvSpPr>
              <p:cNvPr id="41" name="Shape 29"/>
              <p:cNvSpPr/>
              <p:nvPr/>
            </p:nvSpPr>
            <p:spPr>
              <a:xfrm>
                <a:off x="6163056" y="5155387"/>
                <a:ext cx="228600" cy="228600"/>
              </a:xfrm>
              <a:prstGeom prst="roundRect">
                <a:avLst>
                  <a:gd name="adj" fmla="val 100000"/>
                </a:avLst>
              </a:prstGeom>
              <a:solidFill>
                <a:srgbClr val="064E3B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pic>
            <p:nvPicPr>
              <p:cNvPr id="42" name="Image 10" descr="preencoded.png"/>
              <p:cNvPicPr>
                <a:picLocks noChangeAspect="1"/>
              </p:cNvPicPr>
              <p:nvPr/>
            </p:nvPicPr>
            <p:blipFill>
              <a:blip r:embed="rId9"/>
              <a:srcRect t="-1359" b="-1359"/>
              <a:stretch/>
            </p:blipFill>
            <p:spPr>
              <a:xfrm>
                <a:off x="6224321" y="5207508"/>
                <a:ext cx="105156" cy="123444"/>
              </a:xfrm>
              <a:prstGeom prst="rect">
                <a:avLst/>
              </a:prstGeom>
            </p:spPr>
          </p:pic>
        </p:grpSp>
        <p:sp>
          <p:nvSpPr>
            <p:cNvPr id="43" name="Text 30"/>
            <p:cNvSpPr txBox="1"/>
            <p:nvPr/>
          </p:nvSpPr>
          <p:spPr>
            <a:xfrm>
              <a:off x="6505956" y="5136185"/>
              <a:ext cx="49149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CBD5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Kontekst projektu: holderzy, finansowanie, centralizacja</a:t>
              </a:r>
              <a:endParaRPr lang="en-US" sz="1100" dirty="0"/>
            </a:p>
          </p:txBody>
        </p:sp>
        <p:grpSp>
          <p:nvGrpSpPr>
            <p:cNvPr id="51" name="Grupa 50">
              <a:extLst>
                <a:ext uri="{FF2B5EF4-FFF2-40B4-BE49-F238E27FC236}">
                  <a16:creationId xmlns:a16="http://schemas.microsoft.com/office/drawing/2014/main" id="{1C81839F-0A24-9B4D-E59F-AE1592A66167}"/>
                </a:ext>
              </a:extLst>
            </p:cNvPr>
            <p:cNvGrpSpPr/>
            <p:nvPr/>
          </p:nvGrpSpPr>
          <p:grpSpPr>
            <a:xfrm>
              <a:off x="895198" y="5535778"/>
              <a:ext cx="228600" cy="228600"/>
              <a:chOff x="895198" y="5535778"/>
              <a:chExt cx="228600" cy="228600"/>
            </a:xfrm>
          </p:grpSpPr>
          <p:sp>
            <p:nvSpPr>
              <p:cNvPr id="44" name="Shape 31"/>
              <p:cNvSpPr/>
              <p:nvPr/>
            </p:nvSpPr>
            <p:spPr>
              <a:xfrm>
                <a:off x="895198" y="5535778"/>
                <a:ext cx="228600" cy="228600"/>
              </a:xfrm>
              <a:prstGeom prst="roundRect">
                <a:avLst>
                  <a:gd name="adj" fmla="val 100000"/>
                </a:avLst>
              </a:prstGeom>
              <a:solidFill>
                <a:srgbClr val="064E3B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pic>
            <p:nvPicPr>
              <p:cNvPr id="45" name="Image 11" descr="preencoded.png"/>
              <p:cNvPicPr>
                <a:picLocks noChangeAspect="1"/>
              </p:cNvPicPr>
              <p:nvPr/>
            </p:nvPicPr>
            <p:blipFill>
              <a:blip r:embed="rId9"/>
              <a:srcRect t="-1359" b="-1359"/>
              <a:stretch/>
            </p:blipFill>
            <p:spPr>
              <a:xfrm>
                <a:off x="957377" y="5587898"/>
                <a:ext cx="105156" cy="123444"/>
              </a:xfrm>
              <a:prstGeom prst="rect">
                <a:avLst/>
              </a:prstGeom>
            </p:spPr>
          </p:pic>
        </p:grpSp>
        <p:sp>
          <p:nvSpPr>
            <p:cNvPr id="46" name="Text 32"/>
            <p:cNvSpPr txBox="1"/>
            <p:nvPr/>
          </p:nvSpPr>
          <p:spPr>
            <a:xfrm>
              <a:off x="1238098" y="5516575"/>
              <a:ext cx="490575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CBD5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Przykładowy wynik analizy GO/NO-GO</a:t>
              </a:r>
              <a:endParaRPr lang="en-US" sz="1100" dirty="0"/>
            </a:p>
          </p:txBody>
        </p:sp>
        <p:grpSp>
          <p:nvGrpSpPr>
            <p:cNvPr id="54" name="Grupa 53">
              <a:extLst>
                <a:ext uri="{FF2B5EF4-FFF2-40B4-BE49-F238E27FC236}">
                  <a16:creationId xmlns:a16="http://schemas.microsoft.com/office/drawing/2014/main" id="{05426B19-BA98-9A1C-E906-6F0718569D35}"/>
                </a:ext>
              </a:extLst>
            </p:cNvPr>
            <p:cNvGrpSpPr/>
            <p:nvPr/>
          </p:nvGrpSpPr>
          <p:grpSpPr>
            <a:xfrm>
              <a:off x="6163056" y="5535778"/>
              <a:ext cx="228600" cy="228600"/>
              <a:chOff x="6163056" y="5535778"/>
              <a:chExt cx="228600" cy="228600"/>
            </a:xfrm>
          </p:grpSpPr>
          <p:sp>
            <p:nvSpPr>
              <p:cNvPr id="47" name="Shape 33"/>
              <p:cNvSpPr/>
              <p:nvPr/>
            </p:nvSpPr>
            <p:spPr>
              <a:xfrm>
                <a:off x="6163056" y="5535778"/>
                <a:ext cx="228600" cy="228600"/>
              </a:xfrm>
              <a:prstGeom prst="roundRect">
                <a:avLst>
                  <a:gd name="adj" fmla="val 100000"/>
                </a:avLst>
              </a:prstGeom>
              <a:solidFill>
                <a:srgbClr val="064E3B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pic>
            <p:nvPicPr>
              <p:cNvPr id="48" name="Image 12" descr="preencoded.png"/>
              <p:cNvPicPr>
                <a:picLocks noChangeAspect="1"/>
              </p:cNvPicPr>
              <p:nvPr/>
            </p:nvPicPr>
            <p:blipFill>
              <a:blip r:embed="rId9"/>
              <a:srcRect t="-1359" b="-1359"/>
              <a:stretch/>
            </p:blipFill>
            <p:spPr>
              <a:xfrm>
                <a:off x="6224321" y="5587898"/>
                <a:ext cx="105156" cy="123444"/>
              </a:xfrm>
              <a:prstGeom prst="rect">
                <a:avLst/>
              </a:prstGeom>
            </p:spPr>
          </p:pic>
        </p:grpSp>
        <p:sp>
          <p:nvSpPr>
            <p:cNvPr id="49" name="Text 34"/>
            <p:cNvSpPr txBox="1"/>
            <p:nvPr/>
          </p:nvSpPr>
          <p:spPr>
            <a:xfrm>
              <a:off x="6505956" y="5516575"/>
              <a:ext cx="490575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CBD5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Publiczną weryfikację danych (brak zamkniętej skrzynki)</a:t>
              </a:r>
              <a:endParaRPr lang="en-US" sz="110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4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1500" y="476402"/>
            <a:ext cx="110496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Transparentność i odpowiedzialność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6598" y="1543507"/>
            <a:ext cx="5286146" cy="2276856"/>
          </a:xfrm>
          <a:prstGeom prst="roundRect">
            <a:avLst>
              <a:gd name="adj" fmla="val 2353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l-PL" dirty="0"/>
          </a:p>
        </p:txBody>
      </p:sp>
      <p:grpSp>
        <p:nvGrpSpPr>
          <p:cNvPr id="28" name="Grupa 27">
            <a:extLst>
              <a:ext uri="{FF2B5EF4-FFF2-40B4-BE49-F238E27FC236}">
                <a16:creationId xmlns:a16="http://schemas.microsoft.com/office/drawing/2014/main" id="{97950F2D-0389-98B2-FADF-D4224EB73751}"/>
              </a:ext>
            </a:extLst>
          </p:cNvPr>
          <p:cNvGrpSpPr/>
          <p:nvPr/>
        </p:nvGrpSpPr>
        <p:grpSpPr>
          <a:xfrm>
            <a:off x="666598" y="1543507"/>
            <a:ext cx="5248656" cy="1485900"/>
            <a:chOff x="666598" y="1543507"/>
            <a:chExt cx="5248656" cy="1485900"/>
          </a:xfrm>
        </p:grpSpPr>
        <p:sp>
          <p:nvSpPr>
            <p:cNvPr id="5" name="Shape 3"/>
            <p:cNvSpPr/>
            <p:nvPr/>
          </p:nvSpPr>
          <p:spPr>
            <a:xfrm>
              <a:off x="666598" y="1543507"/>
              <a:ext cx="5248656" cy="38405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952805" y="1867205"/>
              <a:ext cx="533095" cy="533095"/>
            </a:xfrm>
            <a:prstGeom prst="roundRect">
              <a:avLst>
                <a:gd name="adj" fmla="val 36756"/>
              </a:avLst>
            </a:prstGeom>
            <a:solidFill>
              <a:srgbClr val="064E3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052474" y="2000707"/>
              <a:ext cx="333756" cy="267005"/>
            </a:xfrm>
            <a:prstGeom prst="rect">
              <a:avLst/>
            </a:prstGeom>
          </p:spPr>
        </p:pic>
        <p:sp>
          <p:nvSpPr>
            <p:cNvPr id="8" name="Text 5"/>
            <p:cNvSpPr txBox="1"/>
            <p:nvPr/>
          </p:nvSpPr>
          <p:spPr>
            <a:xfrm>
              <a:off x="1638605" y="1960474"/>
              <a:ext cx="410565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Analiza </a:t>
              </a:r>
              <a:r>
                <a:rPr lang="en-US" sz="2100" b="1" dirty="0">
                  <a:solidFill>
                    <a:srgbClr val="64748B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≠</a:t>
              </a:r>
              <a:r>
                <a:rPr lang="en-US" sz="15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rekomendacja</a:t>
              </a:r>
              <a:endParaRPr lang="en-US" sz="1500" dirty="0"/>
            </a:p>
          </p:txBody>
        </p:sp>
        <p:sp>
          <p:nvSpPr>
            <p:cNvPr id="9" name="Text 6"/>
            <p:cNvSpPr txBox="1"/>
            <p:nvPr/>
          </p:nvSpPr>
          <p:spPr>
            <a:xfrm>
              <a:off x="952805" y="2572207"/>
              <a:ext cx="4791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CBD5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Nie prognozujemy ceny. Pomagamy unikać ryzykownych projektów i ograniczać błędy decyzyjne.</a:t>
              </a:r>
              <a:endParaRPr lang="en-US" sz="1100" dirty="0"/>
            </a:p>
          </p:txBody>
        </p:sp>
      </p:grpSp>
      <p:sp>
        <p:nvSpPr>
          <p:cNvPr id="24" name="Shape 19"/>
          <p:cNvSpPr/>
          <p:nvPr/>
        </p:nvSpPr>
        <p:spPr>
          <a:xfrm>
            <a:off x="6524244" y="4429354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783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32" name="Grupa 31">
            <a:extLst>
              <a:ext uri="{FF2B5EF4-FFF2-40B4-BE49-F238E27FC236}">
                <a16:creationId xmlns:a16="http://schemas.microsoft.com/office/drawing/2014/main" id="{983F2AE6-61FC-041B-5BA9-3D41F7EE21D1}"/>
              </a:ext>
            </a:extLst>
          </p:cNvPr>
          <p:cNvGrpSpPr/>
          <p:nvPr/>
        </p:nvGrpSpPr>
        <p:grpSpPr>
          <a:xfrm>
            <a:off x="6238951" y="4105656"/>
            <a:ext cx="5286146" cy="2276856"/>
            <a:chOff x="6238951" y="4105656"/>
            <a:chExt cx="5286146" cy="2276856"/>
          </a:xfrm>
        </p:grpSpPr>
        <p:sp>
          <p:nvSpPr>
            <p:cNvPr id="22" name="Shape 17"/>
            <p:cNvSpPr/>
            <p:nvPr/>
          </p:nvSpPr>
          <p:spPr>
            <a:xfrm>
              <a:off x="6238951" y="4105656"/>
              <a:ext cx="5286146" cy="2276856"/>
            </a:xfrm>
            <a:prstGeom prst="roundRect">
              <a:avLst>
                <a:gd name="adj" fmla="val 2353"/>
              </a:avLst>
            </a:prstGeom>
            <a:solidFill>
              <a:srgbClr val="1E293B"/>
            </a:solidFill>
            <a:ln w="25400">
              <a:solidFill>
                <a:srgbClr val="334155"/>
              </a:solidFill>
              <a:prstDash val="solid"/>
            </a:ln>
          </p:spPr>
        </p:sp>
        <p:sp>
          <p:nvSpPr>
            <p:cNvPr id="23" name="Shape 18"/>
            <p:cNvSpPr/>
            <p:nvPr/>
          </p:nvSpPr>
          <p:spPr>
            <a:xfrm>
              <a:off x="6238951" y="4105656"/>
              <a:ext cx="5248656" cy="38405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25" name="Image 3" descr="preencoded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624828" y="4562856"/>
              <a:ext cx="333756" cy="267005"/>
            </a:xfrm>
            <a:prstGeom prst="rect">
              <a:avLst/>
            </a:prstGeom>
          </p:spPr>
        </p:pic>
        <p:sp>
          <p:nvSpPr>
            <p:cNvPr id="26" name="Text 20"/>
            <p:cNvSpPr txBox="1"/>
            <p:nvPr/>
          </p:nvSpPr>
          <p:spPr>
            <a:xfrm>
              <a:off x="7210044" y="4572000"/>
              <a:ext cx="4144061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Język decyzji</a:t>
              </a:r>
              <a:endParaRPr lang="en-US" sz="1500" dirty="0"/>
            </a:p>
          </p:txBody>
        </p:sp>
        <p:sp>
          <p:nvSpPr>
            <p:cNvPr id="27" name="Text 21"/>
            <p:cNvSpPr txBox="1"/>
            <p:nvPr/>
          </p:nvSpPr>
          <p:spPr>
            <a:xfrm>
              <a:off x="6524244" y="5134356"/>
              <a:ext cx="4791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CBD5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GO / REVIEW / NO-GO to narzędzie kontroli ryzyka, nie porada inwestycyjna.</a:t>
              </a:r>
              <a:endParaRPr lang="en-US" sz="1100" dirty="0"/>
            </a:p>
          </p:txBody>
        </p:sp>
      </p:grpSp>
      <p:grpSp>
        <p:nvGrpSpPr>
          <p:cNvPr id="29" name="Grupa 28">
            <a:extLst>
              <a:ext uri="{FF2B5EF4-FFF2-40B4-BE49-F238E27FC236}">
                <a16:creationId xmlns:a16="http://schemas.microsoft.com/office/drawing/2014/main" id="{9A75F1F5-9DAA-C812-1503-F972D5578102}"/>
              </a:ext>
            </a:extLst>
          </p:cNvPr>
          <p:cNvGrpSpPr/>
          <p:nvPr/>
        </p:nvGrpSpPr>
        <p:grpSpPr>
          <a:xfrm>
            <a:off x="6238951" y="1543507"/>
            <a:ext cx="5286146" cy="2276856"/>
            <a:chOff x="6238951" y="1543507"/>
            <a:chExt cx="5286146" cy="2276856"/>
          </a:xfrm>
        </p:grpSpPr>
        <p:sp>
          <p:nvSpPr>
            <p:cNvPr id="10" name="Shape 7"/>
            <p:cNvSpPr/>
            <p:nvPr/>
          </p:nvSpPr>
          <p:spPr>
            <a:xfrm>
              <a:off x="6238951" y="1543507"/>
              <a:ext cx="5286146" cy="2276856"/>
            </a:xfrm>
            <a:prstGeom prst="roundRect">
              <a:avLst>
                <a:gd name="adj" fmla="val 2353"/>
              </a:avLst>
            </a:prstGeom>
            <a:solidFill>
              <a:srgbClr val="1E293B"/>
            </a:solidFill>
            <a:ln w="25400">
              <a:solidFill>
                <a:srgbClr val="334155"/>
              </a:solidFill>
              <a:prstDash val="solid"/>
            </a:ln>
          </p:spPr>
        </p:sp>
        <p:sp>
          <p:nvSpPr>
            <p:cNvPr id="11" name="Shape 8"/>
            <p:cNvSpPr/>
            <p:nvPr/>
          </p:nvSpPr>
          <p:spPr>
            <a:xfrm>
              <a:off x="6238951" y="1543507"/>
              <a:ext cx="5248656" cy="38405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2" name="Shape 9"/>
            <p:cNvSpPr/>
            <p:nvPr/>
          </p:nvSpPr>
          <p:spPr>
            <a:xfrm>
              <a:off x="6524244" y="1867205"/>
              <a:ext cx="533095" cy="533095"/>
            </a:xfrm>
            <a:prstGeom prst="roundRect">
              <a:avLst>
                <a:gd name="adj" fmla="val 36756"/>
              </a:avLst>
            </a:prstGeom>
            <a:solidFill>
              <a:srgbClr val="1E3A8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6657746" y="2000707"/>
              <a:ext cx="267005" cy="267005"/>
            </a:xfrm>
            <a:prstGeom prst="rect">
              <a:avLst/>
            </a:prstGeom>
          </p:spPr>
        </p:pic>
        <p:sp>
          <p:nvSpPr>
            <p:cNvPr id="14" name="Text 10"/>
            <p:cNvSpPr txBox="1"/>
            <p:nvPr/>
          </p:nvSpPr>
          <p:spPr>
            <a:xfrm>
              <a:off x="7210044" y="2009851"/>
              <a:ext cx="4144061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Brak obietnic zysku</a:t>
              </a:r>
              <a:endParaRPr lang="en-US" sz="1500" dirty="0"/>
            </a:p>
          </p:txBody>
        </p:sp>
        <p:sp>
          <p:nvSpPr>
            <p:cNvPr id="15" name="Text 11"/>
            <p:cNvSpPr txBox="1"/>
            <p:nvPr/>
          </p:nvSpPr>
          <p:spPr>
            <a:xfrm>
              <a:off x="6524244" y="2572207"/>
              <a:ext cx="479145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CBD5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To narzędzie analityczne, nie rekomendacja inwestycyjna. Zawsze weryfikuj informacje i zarządzaj ryzykiem.</a:t>
              </a:r>
              <a:endParaRPr lang="en-US" sz="1100" dirty="0"/>
            </a:p>
          </p:txBody>
        </p:sp>
        <p:pic>
          <p:nvPicPr>
            <p:cNvPr id="31" name="Obraz 30">
              <a:extLst>
                <a:ext uri="{FF2B5EF4-FFF2-40B4-BE49-F238E27FC236}">
                  <a16:creationId xmlns:a16="http://schemas.microsoft.com/office/drawing/2014/main" id="{DC7F1557-855C-09FE-4C98-949EB24FB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51118" y="2936137"/>
              <a:ext cx="2711840" cy="825756"/>
            </a:xfrm>
            <a:prstGeom prst="rect">
              <a:avLst/>
            </a:prstGeom>
          </p:spPr>
        </p:pic>
      </p:grpSp>
      <p:grpSp>
        <p:nvGrpSpPr>
          <p:cNvPr id="36" name="Grupa 35">
            <a:extLst>
              <a:ext uri="{FF2B5EF4-FFF2-40B4-BE49-F238E27FC236}">
                <a16:creationId xmlns:a16="http://schemas.microsoft.com/office/drawing/2014/main" id="{1D7D3491-7CDE-C3D8-2417-082EFA978D04}"/>
              </a:ext>
            </a:extLst>
          </p:cNvPr>
          <p:cNvGrpSpPr/>
          <p:nvPr/>
        </p:nvGrpSpPr>
        <p:grpSpPr>
          <a:xfrm>
            <a:off x="666598" y="4105656"/>
            <a:ext cx="5286146" cy="2276856"/>
            <a:chOff x="666598" y="4105656"/>
            <a:chExt cx="5286146" cy="2276856"/>
          </a:xfrm>
        </p:grpSpPr>
        <p:grpSp>
          <p:nvGrpSpPr>
            <p:cNvPr id="35" name="Grupa 34">
              <a:extLst>
                <a:ext uri="{FF2B5EF4-FFF2-40B4-BE49-F238E27FC236}">
                  <a16:creationId xmlns:a16="http://schemas.microsoft.com/office/drawing/2014/main" id="{190FEE54-B2EE-D4DD-B437-EC1C72B49801}"/>
                </a:ext>
              </a:extLst>
            </p:cNvPr>
            <p:cNvGrpSpPr/>
            <p:nvPr/>
          </p:nvGrpSpPr>
          <p:grpSpPr>
            <a:xfrm>
              <a:off x="666598" y="4105656"/>
              <a:ext cx="5286146" cy="2276856"/>
              <a:chOff x="666598" y="4105656"/>
              <a:chExt cx="5286146" cy="2276856"/>
            </a:xfrm>
          </p:grpSpPr>
          <p:sp>
            <p:nvSpPr>
              <p:cNvPr id="16" name="Shape 12"/>
              <p:cNvSpPr/>
              <p:nvPr/>
            </p:nvSpPr>
            <p:spPr>
              <a:xfrm>
                <a:off x="666598" y="4105656"/>
                <a:ext cx="5286146" cy="2276856"/>
              </a:xfrm>
              <a:prstGeom prst="roundRect">
                <a:avLst>
                  <a:gd name="adj" fmla="val 2353"/>
                </a:avLst>
              </a:prstGeom>
              <a:solidFill>
                <a:srgbClr val="1E293B"/>
              </a:solidFill>
              <a:ln w="25400">
                <a:solidFill>
                  <a:srgbClr val="334155"/>
                </a:solidFill>
                <a:prstDash val="solid"/>
              </a:ln>
            </p:spPr>
          </p:sp>
          <p:sp>
            <p:nvSpPr>
              <p:cNvPr id="17" name="Shape 13"/>
              <p:cNvSpPr/>
              <p:nvPr/>
            </p:nvSpPr>
            <p:spPr>
              <a:xfrm>
                <a:off x="666598" y="4105656"/>
                <a:ext cx="5248656" cy="38405"/>
              </a:xfrm>
              <a:prstGeom prst="rect">
                <a:avLst/>
              </a:prstGeom>
              <a:solidFill>
                <a:srgbClr val="8B5CF6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sp>
            <p:nvSpPr>
              <p:cNvPr id="18" name="Shape 14"/>
              <p:cNvSpPr/>
              <p:nvPr/>
            </p:nvSpPr>
            <p:spPr>
              <a:xfrm>
                <a:off x="952805" y="4429354"/>
                <a:ext cx="533095" cy="533095"/>
              </a:xfrm>
              <a:prstGeom prst="roundRect">
                <a:avLst>
                  <a:gd name="adj" fmla="val 36756"/>
                </a:avLst>
              </a:prstGeom>
              <a:solidFill>
                <a:srgbClr val="4C1D95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pic>
            <p:nvPicPr>
              <p:cNvPr id="19" name="Image 2" descr="preencoded.png"/>
              <p:cNvPicPr>
                <a:picLocks noChangeAspect="1"/>
              </p:cNvPicPr>
              <p:nvPr/>
            </p:nvPicPr>
            <p:blipFill>
              <a:blip r:embed="rId7"/>
              <a:srcRect l="-881" r="-881"/>
              <a:stretch/>
            </p:blipFill>
            <p:spPr>
              <a:xfrm>
                <a:off x="1100023" y="4562856"/>
                <a:ext cx="237744" cy="267005"/>
              </a:xfrm>
              <a:prstGeom prst="rect">
                <a:avLst/>
              </a:prstGeom>
            </p:spPr>
          </p:pic>
          <p:sp>
            <p:nvSpPr>
              <p:cNvPr id="20" name="Text 15"/>
              <p:cNvSpPr txBox="1"/>
              <p:nvPr/>
            </p:nvSpPr>
            <p:spPr>
              <a:xfrm>
                <a:off x="1638605" y="4572000"/>
                <a:ext cx="4144061" cy="2478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5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Pełna weryfikowalność</a:t>
                </a:r>
                <a:endParaRPr lang="en-US" sz="1500" dirty="0"/>
              </a:p>
            </p:txBody>
          </p:sp>
          <p:sp>
            <p:nvSpPr>
              <p:cNvPr id="21" name="Text 16"/>
              <p:cNvSpPr txBox="1"/>
              <p:nvPr/>
            </p:nvSpPr>
            <p:spPr>
              <a:xfrm>
                <a:off x="952805" y="5134356"/>
                <a:ext cx="4791456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CBD5E1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Każdy kontrakt i adres można sprawdzić bezpośrednio na Etherscan. Brak zamkniętej skrzynki.</a:t>
                </a:r>
                <a:endParaRPr lang="en-US" sz="1100" dirty="0"/>
              </a:p>
            </p:txBody>
          </p:sp>
        </p:grpSp>
        <p:pic>
          <p:nvPicPr>
            <p:cNvPr id="33" name="Obraz 32">
              <a:extLst>
                <a:ext uri="{FF2B5EF4-FFF2-40B4-BE49-F238E27FC236}">
                  <a16:creationId xmlns:a16="http://schemas.microsoft.com/office/drawing/2014/main" id="{47654214-BB07-3D97-CADF-107592C28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52474" y="5551317"/>
              <a:ext cx="3996700" cy="712626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5663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Fakty. Skala. Skuteczność.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14807" y="1057046"/>
            <a:ext cx="111639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 z produkcji — od debiutu systemu (05.12.2025)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14807" y="5827471"/>
            <a:ext cx="11163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nie są symulacje. To dane z realnego rynku.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66598" y="1499616"/>
            <a:ext cx="2572207" cy="1209751"/>
          </a:xfrm>
          <a:prstGeom prst="roundRect">
            <a:avLst>
              <a:gd name="adj" fmla="val 7142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6598" y="1499616"/>
            <a:ext cx="2533802" cy="28346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12825" y="1709014"/>
            <a:ext cx="168158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~12 697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19302" y="2147011"/>
            <a:ext cx="22677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Przeanalizowanych smart kontraktów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499616"/>
            <a:ext cx="2572207" cy="1209751"/>
          </a:xfrm>
          <a:prstGeom prst="roundRect">
            <a:avLst>
              <a:gd name="adj" fmla="val 7142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499616"/>
            <a:ext cx="2533802" cy="28346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34586" y="1709014"/>
            <a:ext cx="96377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~174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147011"/>
            <a:ext cx="24825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Odrzucone jako ewidentny scam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1402" y="1499616"/>
            <a:ext cx="2572207" cy="1209751"/>
          </a:xfrm>
          <a:prstGeom prst="roundRect">
            <a:avLst>
              <a:gd name="adj" fmla="val 7142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1402" y="1499616"/>
            <a:ext cx="2533802" cy="28346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39458" y="1709014"/>
            <a:ext cx="168249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~12 479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275527" y="2147011"/>
            <a:ext cx="240304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 kolejce — oczekiwanie na LP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53805" y="1499616"/>
            <a:ext cx="2572207" cy="1209751"/>
          </a:xfrm>
          <a:prstGeom prst="roundRect">
            <a:avLst>
              <a:gd name="adj" fmla="val 7142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53805" y="1499616"/>
            <a:ext cx="2533802" cy="28346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47758" y="1709014"/>
            <a:ext cx="5907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44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9105595" y="2147011"/>
            <a:ext cx="22677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Przekazane do dalszej, pogłębionej weryfikacji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1500" y="2894076"/>
            <a:ext cx="11048695" cy="952805"/>
          </a:xfrm>
          <a:prstGeom prst="roundRect">
            <a:avLst>
              <a:gd name="adj" fmla="val 11516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1500" y="2894076"/>
            <a:ext cx="11011205" cy="28346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7707" y="3103474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4C1D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0295" y="3236976"/>
            <a:ext cx="267005" cy="267005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580998" y="3256178"/>
            <a:ext cx="9866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Silnik AI: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2594153" y="3198571"/>
            <a:ext cx="24917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1 067 130</a:t>
            </a:r>
            <a:endParaRPr lang="en-US" sz="2700" dirty="0"/>
          </a:p>
        </p:txBody>
      </p:sp>
      <p:sp>
        <p:nvSpPr>
          <p:cNvPr id="28" name="Text 25"/>
          <p:cNvSpPr txBox="1"/>
          <p:nvPr/>
        </p:nvSpPr>
        <p:spPr>
          <a:xfrm>
            <a:off x="4686300" y="3283610"/>
            <a:ext cx="64200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Przeanalizowanych modeli procesowych AI — liczba rośnie z każdym nowym kontraktem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71500" y="4037076"/>
            <a:ext cx="11048695" cy="1638605"/>
          </a:xfrm>
          <a:prstGeom prst="roundRect">
            <a:avLst>
              <a:gd name="adj" fmla="val 3893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71500" y="4037076"/>
            <a:ext cx="11011205" cy="28346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57707" y="4246474"/>
            <a:ext cx="418795" cy="418795"/>
          </a:xfrm>
          <a:prstGeom prst="roundRect">
            <a:avLst>
              <a:gd name="adj" fmla="val 49623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1949" y="4350715"/>
            <a:ext cx="209398" cy="209398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410005" y="4341571"/>
            <a:ext cx="3791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 wykrywamy w kodzie (zagrożenia)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857707" y="4817974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3602" y="4893869"/>
            <a:ext cx="114300" cy="11430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1218895" y="4864608"/>
            <a:ext cx="22585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Honeypot / blokada sprzedaży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3504895" y="4817974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581705" y="4893869"/>
            <a:ext cx="114300" cy="11430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3866998" y="4864608"/>
            <a:ext cx="231617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Wysokie podatki (Buy/Sell Tax)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6152998" y="4817974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29807" y="4893869"/>
            <a:ext cx="114300" cy="114300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6515100" y="4864608"/>
            <a:ext cx="22585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Ukryta kontrola właściciela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8801100" y="4817974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76995" y="4893869"/>
            <a:ext cx="114300" cy="114300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9163202" y="4864608"/>
            <a:ext cx="22585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Centralizacja podaży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857707" y="5199278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3602" y="5275174"/>
            <a:ext cx="114300" cy="114300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1218895" y="5244998"/>
            <a:ext cx="22585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Ryzyko płynności (LP)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3504895" y="5199278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581705" y="5275174"/>
            <a:ext cx="114300" cy="114300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3866998" y="5244998"/>
            <a:ext cx="22585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Blacklist / whitelist logic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6152998" y="5199278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29807" y="5275174"/>
            <a:ext cx="114300" cy="114300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6515100" y="5244998"/>
            <a:ext cx="22585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Kill switch / pause trading</a:t>
            </a:r>
            <a:endParaRPr lang="en-US" sz="900" dirty="0"/>
          </a:p>
        </p:txBody>
      </p:sp>
      <p:sp>
        <p:nvSpPr>
          <p:cNvPr id="55" name="Shape 44"/>
          <p:cNvSpPr/>
          <p:nvPr/>
        </p:nvSpPr>
        <p:spPr>
          <a:xfrm>
            <a:off x="8801100" y="5199278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76995" y="5275174"/>
            <a:ext cx="114300" cy="114300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9163202" y="5244998"/>
            <a:ext cx="22585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Proxy / ukryta zmiana logiki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44103AD-87FF-1907-025A-E81C9C88052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0FCBAB-3340-5306-F908-D3B9AB38BE14}"/>
              </a:ext>
            </a:extLst>
          </p:cNvPr>
          <p:cNvSpPr txBox="1"/>
          <p:nvPr/>
        </p:nvSpPr>
        <p:spPr>
          <a:xfrm>
            <a:off x="505663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Fakty. Skala. Skuteczność.</a:t>
            </a:r>
            <a:endParaRPr lang="en-US" sz="3100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9325061-E1DC-B19D-F6B3-3AC2DACF8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32" y="681685"/>
            <a:ext cx="1975714" cy="5813523"/>
          </a:xfrm>
          <a:prstGeom prst="rect">
            <a:avLst/>
          </a:prstGeom>
        </p:spPr>
      </p:pic>
      <p:sp>
        <p:nvSpPr>
          <p:cNvPr id="6" name="Shape 21">
            <a:extLst>
              <a:ext uri="{FF2B5EF4-FFF2-40B4-BE49-F238E27FC236}">
                <a16:creationId xmlns:a16="http://schemas.microsoft.com/office/drawing/2014/main" id="{8E949234-0005-306E-8602-D69ED8CC648F}"/>
              </a:ext>
            </a:extLst>
          </p:cNvPr>
          <p:cNvSpPr/>
          <p:nvPr/>
        </p:nvSpPr>
        <p:spPr>
          <a:xfrm>
            <a:off x="2373326" y="3833158"/>
            <a:ext cx="9372142" cy="45719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4FEE73E6-1FBE-5ED5-DF1A-5F7D17B6E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326" y="1338360"/>
            <a:ext cx="4659934" cy="2254124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E62A8AD8-9C55-8FCF-36E8-ED1D829E4B3A}"/>
              </a:ext>
            </a:extLst>
          </p:cNvPr>
          <p:cNvSpPr txBox="1"/>
          <p:nvPr/>
        </p:nvSpPr>
        <p:spPr>
          <a:xfrm>
            <a:off x="3086100" y="1021713"/>
            <a:ext cx="7010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b="1" kern="0" spc="-37" dirty="0">
                <a:solidFill>
                  <a:srgbClr val="FFFFFF"/>
                </a:solidFill>
                <a:latin typeface="Montserrat" pitchFamily="34" charset="0"/>
              </a:rPr>
              <a:t>Analiza </a:t>
            </a:r>
            <a:r>
              <a:rPr lang="pl-PL" sz="1200" b="1" kern="0" spc="-37" dirty="0" err="1">
                <a:solidFill>
                  <a:srgbClr val="FFFFFF"/>
                </a:solidFill>
                <a:latin typeface="Montserrat" pitchFamily="34" charset="0"/>
              </a:rPr>
              <a:t>tokena</a:t>
            </a:r>
            <a:r>
              <a:rPr lang="pl-PL" sz="1200" b="1" kern="0" spc="-37" dirty="0">
                <a:solidFill>
                  <a:srgbClr val="FFFFFF"/>
                </a:solidFill>
                <a:latin typeface="Montserrat" pitchFamily="34" charset="0"/>
              </a:rPr>
              <a:t> </a:t>
            </a:r>
            <a:r>
              <a:rPr lang="pl-PL" sz="1200" b="1" kern="0" spc="-37" dirty="0" err="1">
                <a:solidFill>
                  <a:srgbClr val="FFFFFF"/>
                </a:solidFill>
                <a:latin typeface="Montserrat" pitchFamily="34" charset="0"/>
              </a:rPr>
              <a:t>Kimchi</a:t>
            </a:r>
            <a:r>
              <a:rPr lang="pl-PL" sz="1200" b="1" kern="0" spc="-37" dirty="0">
                <a:solidFill>
                  <a:srgbClr val="FFFFFF"/>
                </a:solidFill>
                <a:latin typeface="Montserrat" pitchFamily="34" charset="0"/>
              </a:rPr>
              <a:t> adres kontraktu: 0x47c170d07b1b4e7037f0ae54a0cf689728e3955e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664C3AFE-312E-DDEE-D487-455E377E083A}"/>
              </a:ext>
            </a:extLst>
          </p:cNvPr>
          <p:cNvSpPr txBox="1"/>
          <p:nvPr/>
        </p:nvSpPr>
        <p:spPr>
          <a:xfrm>
            <a:off x="7255176" y="1334709"/>
            <a:ext cx="438184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Pełna kontrola właściciela,</a:t>
            </a:r>
          </a:p>
          <a:p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- otwarcia handlu (</a:t>
            </a:r>
            <a:r>
              <a:rPr lang="pl-PL" sz="1000" b="1" kern="0" spc="-37" dirty="0" err="1">
                <a:solidFill>
                  <a:srgbClr val="FFFFFF"/>
                </a:solidFill>
                <a:latin typeface="Montserrat" pitchFamily="34" charset="0"/>
              </a:rPr>
              <a:t>enableTrading</a:t>
            </a:r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)</a:t>
            </a:r>
          </a:p>
          <a:p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- usunięcia limitów (</a:t>
            </a:r>
            <a:r>
              <a:rPr lang="pl-PL" sz="1000" b="1" kern="0" spc="-37" dirty="0" err="1">
                <a:solidFill>
                  <a:srgbClr val="FFFFFF"/>
                </a:solidFill>
                <a:latin typeface="Montserrat" pitchFamily="34" charset="0"/>
              </a:rPr>
              <a:t>removeLimits</a:t>
            </a:r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)</a:t>
            </a:r>
          </a:p>
          <a:p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- ratowania dowolnych </a:t>
            </a:r>
            <a:r>
              <a:rPr lang="pl-PL" sz="1000" b="1" kern="0" spc="-37" dirty="0" err="1">
                <a:solidFill>
                  <a:srgbClr val="FFFFFF"/>
                </a:solidFill>
                <a:latin typeface="Montserrat" pitchFamily="34" charset="0"/>
              </a:rPr>
              <a:t>tokenów</a:t>
            </a:r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 (rescueERC20)</a:t>
            </a:r>
          </a:p>
          <a:p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- ręcznego </a:t>
            </a:r>
            <a:r>
              <a:rPr lang="pl-PL" sz="1000" b="1" kern="0" spc="-37" dirty="0" err="1">
                <a:solidFill>
                  <a:srgbClr val="FFFFFF"/>
                </a:solidFill>
                <a:latin typeface="Montserrat" pitchFamily="34" charset="0"/>
              </a:rPr>
              <a:t>swapu</a:t>
            </a:r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 podatków (</a:t>
            </a:r>
            <a:r>
              <a:rPr lang="pl-PL" sz="1000" b="1" kern="0" spc="-37" dirty="0" err="1">
                <a:solidFill>
                  <a:srgbClr val="FFFFFF"/>
                </a:solidFill>
                <a:latin typeface="Montserrat" pitchFamily="34" charset="0"/>
              </a:rPr>
              <a:t>manualSwap</a:t>
            </a:r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)</a:t>
            </a:r>
          </a:p>
          <a:p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- pobierania całego ETH z kontraktu</a:t>
            </a:r>
          </a:p>
          <a:p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- klasyczny </a:t>
            </a:r>
            <a:r>
              <a:rPr lang="pl-PL" sz="1000" b="1" kern="0" spc="-37" dirty="0" err="1">
                <a:solidFill>
                  <a:srgbClr val="FFFFFF"/>
                </a:solidFill>
                <a:latin typeface="Montserrat" pitchFamily="34" charset="0"/>
              </a:rPr>
              <a:t>owner-controlled</a:t>
            </a:r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 </a:t>
            </a:r>
            <a:r>
              <a:rPr lang="pl-PL" sz="1000" b="1" kern="0" spc="-37" dirty="0" err="1">
                <a:solidFill>
                  <a:srgbClr val="FFFFFF"/>
                </a:solidFill>
                <a:latin typeface="Montserrat" pitchFamily="34" charset="0"/>
              </a:rPr>
              <a:t>token</a:t>
            </a:r>
            <a:endParaRPr lang="pl-PL" sz="1000" b="1" kern="0" spc="-37" dirty="0">
              <a:solidFill>
                <a:srgbClr val="FFFFFF"/>
              </a:solidFill>
              <a:latin typeface="Montserrat" pitchFamily="34" charset="0"/>
            </a:endParaRPr>
          </a:p>
          <a:p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- dynamiczne podatki + pełna kontrola </a:t>
            </a:r>
          </a:p>
          <a:p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- podatki </a:t>
            </a:r>
            <a:r>
              <a:rPr lang="pl-PL" sz="1000" b="1" kern="0" spc="-37" dirty="0" err="1">
                <a:solidFill>
                  <a:srgbClr val="FFFFFF"/>
                </a:solidFill>
                <a:latin typeface="Montserrat" pitchFamily="34" charset="0"/>
              </a:rPr>
              <a:t>swapowane</a:t>
            </a:r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 automatycznie</a:t>
            </a:r>
          </a:p>
          <a:p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- cały ETH leci bezpośrednio do </a:t>
            </a:r>
            <a:r>
              <a:rPr lang="pl-PL" sz="1000" b="1" kern="0" spc="-37" dirty="0" err="1">
                <a:solidFill>
                  <a:srgbClr val="FFFFFF"/>
                </a:solidFill>
                <a:latin typeface="Montserrat" pitchFamily="34" charset="0"/>
              </a:rPr>
              <a:t>walleta</a:t>
            </a:r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 </a:t>
            </a:r>
            <a:r>
              <a:rPr lang="pl-PL" sz="1000" b="1" kern="0" spc="-37" dirty="0" err="1">
                <a:solidFill>
                  <a:srgbClr val="FFFFFF"/>
                </a:solidFill>
                <a:latin typeface="Montserrat" pitchFamily="34" charset="0"/>
              </a:rPr>
              <a:t>ownera</a:t>
            </a:r>
            <a:endParaRPr lang="pl-PL" sz="1000" b="1" kern="0" spc="-37" dirty="0">
              <a:solidFill>
                <a:srgbClr val="FFFFFF"/>
              </a:solidFill>
              <a:latin typeface="Montserrat" pitchFamily="34" charset="0"/>
            </a:endParaRPr>
          </a:p>
          <a:p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- </a:t>
            </a:r>
            <a:r>
              <a:rPr lang="pl-PL" sz="1000" b="1" kern="0" spc="-37" dirty="0" err="1">
                <a:solidFill>
                  <a:srgbClr val="FFFFFF"/>
                </a:solidFill>
                <a:latin typeface="Montserrat" pitchFamily="34" charset="0"/>
              </a:rPr>
              <a:t>owner</a:t>
            </a:r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 może: wyciągnąć dowolny </a:t>
            </a:r>
            <a:r>
              <a:rPr lang="pl-PL" sz="1000" b="1" kern="0" spc="-37" dirty="0" err="1">
                <a:solidFill>
                  <a:srgbClr val="FFFFFF"/>
                </a:solidFill>
                <a:latin typeface="Montserrat" pitchFamily="34" charset="0"/>
              </a:rPr>
              <a:t>token</a:t>
            </a:r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, w dowolnym momencie</a:t>
            </a:r>
          </a:p>
          <a:p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do własnego waleta, manualny rug-</a:t>
            </a:r>
            <a:r>
              <a:rPr lang="pl-PL" sz="1000" b="1" kern="0" spc="-37" dirty="0" err="1">
                <a:solidFill>
                  <a:srgbClr val="FFFFFF"/>
                </a:solidFill>
                <a:latin typeface="Montserrat" pitchFamily="34" charset="0"/>
              </a:rPr>
              <a:t>pull</a:t>
            </a:r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 mechanizm</a:t>
            </a:r>
          </a:p>
          <a:p>
            <a:r>
              <a:rPr lang="pl-PL" sz="1000" b="1" kern="0" spc="-37" dirty="0">
                <a:solidFill>
                  <a:srgbClr val="FFFFFF"/>
                </a:solidFill>
                <a:latin typeface="Montserrat" pitchFamily="34" charset="0"/>
              </a:rPr>
              <a:t>- I dużo więcej</a:t>
            </a:r>
          </a:p>
          <a:p>
            <a:pPr marL="171450" indent="-171450">
              <a:buFontTx/>
              <a:buChar char="-"/>
            </a:pPr>
            <a:endParaRPr lang="pl-PL" sz="1000" b="1" kern="0" spc="-37" dirty="0">
              <a:solidFill>
                <a:srgbClr val="FFFFFF"/>
              </a:solidFill>
              <a:latin typeface="Montserrat" pitchFamily="34" charset="0"/>
            </a:endParaRPr>
          </a:p>
        </p:txBody>
      </p:sp>
      <p:pic>
        <p:nvPicPr>
          <p:cNvPr id="14" name="Obraz 13">
            <a:extLst>
              <a:ext uri="{FF2B5EF4-FFF2-40B4-BE49-F238E27FC236}">
                <a16:creationId xmlns:a16="http://schemas.microsoft.com/office/drawing/2014/main" id="{FFD3620B-12C9-CF01-CF76-3AD331789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326" y="3948778"/>
            <a:ext cx="2890472" cy="1992525"/>
          </a:xfrm>
          <a:prstGeom prst="rect">
            <a:avLst/>
          </a:prstGeom>
        </p:spPr>
      </p:pic>
      <p:pic>
        <p:nvPicPr>
          <p:cNvPr id="16" name="Obraz 15">
            <a:extLst>
              <a:ext uri="{FF2B5EF4-FFF2-40B4-BE49-F238E27FC236}">
                <a16:creationId xmlns:a16="http://schemas.microsoft.com/office/drawing/2014/main" id="{9B5820A4-839A-EE59-DB6D-AD282DB5F1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578" y="3948778"/>
            <a:ext cx="2460997" cy="1992525"/>
          </a:xfrm>
          <a:prstGeom prst="rect">
            <a:avLst/>
          </a:prstGeom>
        </p:spPr>
      </p:pic>
      <p:pic>
        <p:nvPicPr>
          <p:cNvPr id="18" name="Obraz 17">
            <a:extLst>
              <a:ext uri="{FF2B5EF4-FFF2-40B4-BE49-F238E27FC236}">
                <a16:creationId xmlns:a16="http://schemas.microsoft.com/office/drawing/2014/main" id="{9681EEB8-DBFC-1BED-38CB-B2E750A2E9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3229" y="185668"/>
            <a:ext cx="1833904" cy="781741"/>
          </a:xfrm>
          <a:prstGeom prst="rect">
            <a:avLst/>
          </a:prstGeom>
        </p:spPr>
      </p:pic>
      <p:pic>
        <p:nvPicPr>
          <p:cNvPr id="20" name="Obraz 19">
            <a:extLst>
              <a:ext uri="{FF2B5EF4-FFF2-40B4-BE49-F238E27FC236}">
                <a16:creationId xmlns:a16="http://schemas.microsoft.com/office/drawing/2014/main" id="{1C11160D-F01E-96BC-5EDE-C92FA066E0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6935" y="4282015"/>
            <a:ext cx="3708533" cy="133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868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6402" y="428854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Trading Zone — rynek bez emocji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14807" y="1143000"/>
            <a:ext cx="11163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Największym wrogiem tradera nie jest rynek. Najczęściej jest nim on sam.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" y="1687982"/>
            <a:ext cx="5648249" cy="3819449"/>
          </a:xfrm>
          <a:prstGeom prst="roundRect">
            <a:avLst>
              <a:gd name="adj" fmla="val 836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687982"/>
            <a:ext cx="5609844" cy="38405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5" y="1973275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805" y="2087575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29207" y="2073859"/>
            <a:ext cx="316748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Problem, który znamy wszyscy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38505" y="264078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933602" y="2716682"/>
            <a:ext cx="114300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76502" y="2678278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 Stop Loss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38505" y="309798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933602" y="3173882"/>
            <a:ext cx="114300" cy="1527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76502" y="3135478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 Take Profit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38505" y="355518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933602" y="3631082"/>
            <a:ext cx="114300" cy="15270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76502" y="3592678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Przestawianie SL pod emocje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38505" y="401238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933602" y="4088282"/>
            <a:ext cx="114300" cy="15270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76502" y="4049878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Overtrading i FOMO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838505" y="446958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933602" y="4545482"/>
            <a:ext cx="114300" cy="1527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276502" y="4507078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Decyzje podejmowane „na czuja"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6505956" y="1687982"/>
            <a:ext cx="5115154" cy="1800454"/>
          </a:xfrm>
          <a:prstGeom prst="roundRect">
            <a:avLst>
              <a:gd name="adj" fmla="val 3762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6505956" y="1687982"/>
            <a:ext cx="5076749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8719718" y="2020824"/>
            <a:ext cx="685800" cy="685800"/>
          </a:xfrm>
          <a:prstGeom prst="roundRect">
            <a:avLst>
              <a:gd name="adj" fmla="val 25926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91626" y="2192731"/>
            <a:ext cx="342900" cy="3429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990588" y="2878531"/>
            <a:ext cx="4154119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Automatyczne SL / TP </a:t>
            </a: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kontrola ryzyka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505956" y="3708806"/>
            <a:ext cx="5115154" cy="1800454"/>
          </a:xfrm>
          <a:prstGeom prst="roundRect">
            <a:avLst>
              <a:gd name="adj" fmla="val 3762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6505956" y="3708806"/>
            <a:ext cx="5076749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719718" y="4041648"/>
            <a:ext cx="685800" cy="685800"/>
          </a:xfrm>
          <a:prstGeom prst="roundRect">
            <a:avLst>
              <a:gd name="adj" fmla="val 25926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91626" y="4212641"/>
            <a:ext cx="342900" cy="3429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882689" y="4898441"/>
            <a:ext cx="436626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i struktura rynku </a:t>
            </a:r>
            <a:r>
              <a:rPr lang="en-US" sz="15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bez zgadywania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571500" y="5767121"/>
            <a:ext cx="11048695" cy="666598"/>
          </a:xfrm>
          <a:prstGeom prst="roundRect">
            <a:avLst>
              <a:gd name="adj" fmla="val 19596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571500" y="5767121"/>
            <a:ext cx="11011205" cy="28346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800100" y="5976518"/>
            <a:ext cx="10592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2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Trading Zone automatyzuje decyzje, zanim emocje przejmą kontrolę.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6402" y="428854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Silnik decyzyjny, nie pojedynczy wskaźnik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14807" y="1143000"/>
            <a:ext cx="11163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Łączymy dane techniczne, historię rynku i algorytmy kierunku trendu.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" y="1687982"/>
            <a:ext cx="5391302" cy="2238451"/>
          </a:xfrm>
          <a:prstGeom prst="roundRect">
            <a:avLst>
              <a:gd name="adj" fmla="val 2434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687982"/>
            <a:ext cx="5352898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7707" y="2011680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9498" y="2164385"/>
            <a:ext cx="304495" cy="3044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19402" y="2192731"/>
            <a:ext cx="41724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11+ wskaźników technicznych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57707" y="2792578"/>
            <a:ext cx="4896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RSI, MACD, wolumen, momentum i inne analizowane jednocześnie, nie osobno.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29807" y="1687982"/>
            <a:ext cx="5391302" cy="2238451"/>
          </a:xfrm>
          <a:prstGeom prst="roundRect">
            <a:avLst>
              <a:gd name="adj" fmla="val 2434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29807" y="1687982"/>
            <a:ext cx="5352898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15100" y="2011680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67805" y="2164385"/>
            <a:ext cx="304495" cy="3044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276795" y="2192731"/>
            <a:ext cx="41724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Echo rynku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515100" y="2792578"/>
            <a:ext cx="4896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Historyczne układy podobnych warunków → rekomendacja UP / DOWN (%) + mediana.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71500" y="4191610"/>
            <a:ext cx="5391302" cy="2238451"/>
          </a:xfrm>
          <a:prstGeom prst="roundRect">
            <a:avLst>
              <a:gd name="adj" fmla="val 2434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71500" y="4191610"/>
            <a:ext cx="5352898" cy="38405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57707" y="4515307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4C1D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09498" y="4668012"/>
            <a:ext cx="304495" cy="30449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19402" y="4696358"/>
            <a:ext cx="41724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Kierunek trendu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57707" y="5297119"/>
            <a:ext cx="4896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Autorski algorytm określający LONG / SHORT</a:t>
            </a:r>
            <a:r>
              <a:rPr lang="pl-PL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NEUTRAL</a:t>
            </a:r>
            <a:r>
              <a:rPr lang="pl-PL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229807" y="4191610"/>
            <a:ext cx="5391302" cy="2238451"/>
          </a:xfrm>
          <a:prstGeom prst="roundRect">
            <a:avLst>
              <a:gd name="adj" fmla="val 2434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229807" y="4191610"/>
            <a:ext cx="5352898" cy="38405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515100" y="4515307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783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l="-50" r="-50"/>
          <a:stretch/>
        </p:blipFill>
        <p:spPr>
          <a:xfrm>
            <a:off x="6648602" y="4668012"/>
            <a:ext cx="342900" cy="3044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276795" y="4696358"/>
            <a:ext cx="41724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Struktura rynku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6515100" y="5297119"/>
            <a:ext cx="5505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Automatyczne poziomy Fibonacci, kanał trendowy i kluczowe strefy.</a:t>
            </a:r>
            <a:endParaRPr lang="en-US" sz="1100" dirty="0"/>
          </a:p>
        </p:txBody>
      </p:sp>
      <p:pic>
        <p:nvPicPr>
          <p:cNvPr id="32" name="Obraz 31">
            <a:extLst>
              <a:ext uri="{FF2B5EF4-FFF2-40B4-BE49-F238E27FC236}">
                <a16:creationId xmlns:a16="http://schemas.microsoft.com/office/drawing/2014/main" id="{37DC4E31-3B01-A291-9A3C-BB85A751D9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571" y="3382625"/>
            <a:ext cx="5098238" cy="219198"/>
          </a:xfrm>
          <a:prstGeom prst="rect">
            <a:avLst/>
          </a:prstGeom>
        </p:spPr>
      </p:pic>
      <p:pic>
        <p:nvPicPr>
          <p:cNvPr id="34" name="Obraz 33">
            <a:extLst>
              <a:ext uri="{FF2B5EF4-FFF2-40B4-BE49-F238E27FC236}">
                <a16:creationId xmlns:a16="http://schemas.microsoft.com/office/drawing/2014/main" id="{03D24EC9-64F7-EB54-87B7-4B4797689B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0440" y="3354204"/>
            <a:ext cx="2872782" cy="253043"/>
          </a:xfrm>
          <a:prstGeom prst="rect">
            <a:avLst/>
          </a:prstGeom>
        </p:spPr>
      </p:pic>
      <p:pic>
        <p:nvPicPr>
          <p:cNvPr id="36" name="Obraz 35">
            <a:extLst>
              <a:ext uri="{FF2B5EF4-FFF2-40B4-BE49-F238E27FC236}">
                <a16:creationId xmlns:a16="http://schemas.microsoft.com/office/drawing/2014/main" id="{A7DFCA39-F980-A36D-B338-3DAF1B72D0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753" y="5807768"/>
            <a:ext cx="5068519" cy="2844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6402" y="428854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Centrum dowodzenia tradera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14807" y="1143000"/>
            <a:ext cx="11163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Decyzje, kontekst, historia i edukacja — bez przełączania narzędzi.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" y="1687982"/>
            <a:ext cx="5410505" cy="1809598"/>
          </a:xfrm>
          <a:prstGeom prst="roundRect">
            <a:avLst>
              <a:gd name="adj" fmla="val 3723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687982"/>
            <a:ext cx="5372100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9302" y="197327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266" r="-266"/>
          <a:stretch/>
        </p:blipFill>
        <p:spPr>
          <a:xfrm>
            <a:off x="942746" y="2116836"/>
            <a:ext cx="323698" cy="2862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43507" y="2141525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Jedno centrum dowodzenia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19302" y="2697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Wszystkie decyzje tradingowe w jednym spójnym panelu.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0605" y="1687982"/>
            <a:ext cx="5410505" cy="1809598"/>
          </a:xfrm>
          <a:prstGeom prst="roundRect">
            <a:avLst>
              <a:gd name="adj" fmla="val 3723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0605" y="1687982"/>
            <a:ext cx="5372100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58407" y="197327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266" r="-266"/>
          <a:stretch/>
        </p:blipFill>
        <p:spPr>
          <a:xfrm>
            <a:off x="6581851" y="2116836"/>
            <a:ext cx="323698" cy="2862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81698" y="2141525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Kompendium wskaźników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458407" y="2697480"/>
            <a:ext cx="5086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RSI, MACD, wolumen i inne — jak je czytać i interpretować.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71500" y="3720694"/>
            <a:ext cx="5410505" cy="1809598"/>
          </a:xfrm>
          <a:prstGeom prst="roundRect">
            <a:avLst>
              <a:gd name="adj" fmla="val 3723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71500" y="3720694"/>
            <a:ext cx="5372100" cy="38405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9302" y="4005986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4C1D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543507" y="4174236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Kompendium świeczek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19302" y="4730191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Formacje świecowe z kontekstem i przykładami.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210605" y="3720694"/>
            <a:ext cx="5410505" cy="1809598"/>
          </a:xfrm>
          <a:prstGeom prst="roundRect">
            <a:avLst>
              <a:gd name="adj" fmla="val 3723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10605" y="3720694"/>
            <a:ext cx="5372100" cy="38405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458407" y="4005986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783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01054" y="4148633"/>
            <a:ext cx="286207" cy="286207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181698" y="4174236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Historia zmian trendu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6458407" y="4730191"/>
            <a:ext cx="560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Dokładne momenty zmiany trendu dla interwałów: 15m • 1h • 4h • 1D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71500" y="5753405"/>
            <a:ext cx="11048695" cy="676656"/>
          </a:xfrm>
          <a:prstGeom prst="roundRect">
            <a:avLst>
              <a:gd name="adj" fmla="val 22840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71500" y="5753405"/>
            <a:ext cx="11011205" cy="28346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00100" y="5962802"/>
            <a:ext cx="105924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2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Trading Zone to nie wykres. To system decyzyjny.</a:t>
            </a:r>
            <a:endParaRPr lang="en-US" sz="1300" dirty="0"/>
          </a:p>
        </p:txBody>
      </p:sp>
      <p:pic>
        <p:nvPicPr>
          <p:cNvPr id="32" name="Obraz 31">
            <a:extLst>
              <a:ext uri="{FF2B5EF4-FFF2-40B4-BE49-F238E27FC236}">
                <a16:creationId xmlns:a16="http://schemas.microsoft.com/office/drawing/2014/main" id="{ABD278E3-6BF8-AA08-6447-235E61294C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8407" y="2996360"/>
            <a:ext cx="4511040" cy="388748"/>
          </a:xfrm>
          <a:prstGeom prst="rect">
            <a:avLst/>
          </a:prstGeom>
        </p:spPr>
      </p:pic>
      <p:pic>
        <p:nvPicPr>
          <p:cNvPr id="34" name="Obraz 33">
            <a:extLst>
              <a:ext uri="{FF2B5EF4-FFF2-40B4-BE49-F238E27FC236}">
                <a16:creationId xmlns:a16="http://schemas.microsoft.com/office/drawing/2014/main" id="{75B41709-B23A-E2A1-27D8-8110EADE22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7294" y="5001250"/>
            <a:ext cx="4633265" cy="4093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6402" y="428854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Dlaczego historia trendu ma znaczenie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71500" y="1333195"/>
            <a:ext cx="5410505" cy="2085746"/>
          </a:xfrm>
          <a:prstGeom prst="roundRect">
            <a:avLst>
              <a:gd name="adj" fmla="val 2803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333195"/>
            <a:ext cx="5372100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9302" y="1619402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1949" y="1762049"/>
            <a:ext cx="286207" cy="2862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43507" y="1787652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to nie opinia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19302" y="2343607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 wynika z danych, nie z emocji ani narracji.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19302" y="2686507"/>
            <a:ext cx="50292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Statystyka, nie opinia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0605" y="1333195"/>
            <a:ext cx="5410505" cy="2085746"/>
          </a:xfrm>
          <a:prstGeom prst="roundRect">
            <a:avLst>
              <a:gd name="adj" fmla="val 2803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0605" y="1333195"/>
            <a:ext cx="5372100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58407" y="1619402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01054" y="1762049"/>
            <a:ext cx="286207" cy="2862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81698" y="1787652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Historia flipów trendu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458407" y="2343607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Dokładnie wiemy kiedy trend zmieniał kierunek.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71500" y="3642970"/>
            <a:ext cx="5410505" cy="1886407"/>
          </a:xfrm>
          <a:prstGeom prst="roundRect">
            <a:avLst>
              <a:gd name="adj" fmla="val 3427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71500" y="3642970"/>
            <a:ext cx="5372100" cy="38405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9302" y="3929177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4C1D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1949" y="4071823"/>
            <a:ext cx="286207" cy="28620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543507" y="4097426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Kontekst interwałów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19302" y="465338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15m • 1h • 4h • 1D — każdy TF ma inną wagę decyzyjną.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210605" y="3642970"/>
            <a:ext cx="5410505" cy="1886407"/>
          </a:xfrm>
          <a:prstGeom prst="roundRect">
            <a:avLst>
              <a:gd name="adj" fmla="val 3427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210605" y="3642970"/>
            <a:ext cx="5372100" cy="38405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458407" y="3929177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783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01054" y="4071823"/>
            <a:ext cx="286207" cy="28620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81698" y="4097426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Powtarzalność rynku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6458407" y="465338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Rynek nie jest losowy — powtarza schematy.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71500" y="5753405"/>
            <a:ext cx="11048695" cy="676656"/>
          </a:xfrm>
          <a:prstGeom prst="roundRect">
            <a:avLst>
              <a:gd name="adj" fmla="val 22840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71500" y="5753405"/>
            <a:ext cx="11011205" cy="28346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800100" y="5962802"/>
            <a:ext cx="105924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2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Nie pytamy czy trend się zmieni. Sprawdzamy kiedy już się zmienił.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6402" y="428854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Automatyczne SL / TP i zarządzanie ryzykiem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14807" y="1143000"/>
            <a:ext cx="11163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Dyscyplina zamiast emocji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" y="1687982"/>
            <a:ext cx="5381244" cy="3838651"/>
          </a:xfrm>
          <a:prstGeom prst="roundRect">
            <a:avLst>
              <a:gd name="adj" fmla="val 828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687982"/>
            <a:ext cx="5343754" cy="38405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505" y="1973275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805" y="2087575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29207" y="2073859"/>
            <a:ext cx="191932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Najczęstsze błędy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38505" y="264078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933602" y="2716682"/>
            <a:ext cx="114300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76502" y="2678278"/>
            <a:ext cx="4524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 Stop Loss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38505" y="309798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933602" y="3173882"/>
            <a:ext cx="114300" cy="1527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76502" y="3135478"/>
            <a:ext cx="4524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 Take Profit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38505" y="355518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933602" y="3631082"/>
            <a:ext cx="114300" cy="15270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76502" y="3592678"/>
            <a:ext cx="4524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Przesuwanie SL „bo rynek wróci"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38505" y="401238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933602" y="4088282"/>
            <a:ext cx="114300" cy="15270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76502" y="4049878"/>
            <a:ext cx="4524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Zamykanie zysku za wcześnie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838505" y="446958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7F1D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933602" y="4545482"/>
            <a:ext cx="114300" cy="1527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276502" y="4507078"/>
            <a:ext cx="4524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Trzymanie straty za długo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6238951" y="1687982"/>
            <a:ext cx="5381244" cy="3838651"/>
          </a:xfrm>
          <a:prstGeom prst="roundRect">
            <a:avLst>
              <a:gd name="adj" fmla="val 828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6238951" y="1687982"/>
            <a:ext cx="5343754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6505956" y="1973275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620256" y="2087575"/>
            <a:ext cx="228600" cy="2286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095744" y="2073859"/>
            <a:ext cx="316839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Trading Zone — automatyzacja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505956" y="264078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6590995" y="2716682"/>
            <a:ext cx="133502" cy="152705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943954" y="2678278"/>
            <a:ext cx="4524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Automatyczne poziomy SL / TP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6505956" y="309798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6590995" y="3173882"/>
            <a:ext cx="133502" cy="152705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6943954" y="3135478"/>
            <a:ext cx="4524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management wbudowany w setup</a:t>
            </a:r>
            <a:endParaRPr lang="en-US" sz="1200" dirty="0"/>
          </a:p>
        </p:txBody>
      </p:sp>
      <p:sp>
        <p:nvSpPr>
          <p:cNvPr id="36" name="Shape 25"/>
          <p:cNvSpPr/>
          <p:nvPr/>
        </p:nvSpPr>
        <p:spPr>
          <a:xfrm>
            <a:off x="6505956" y="355518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6590995" y="3631082"/>
            <a:ext cx="133502" cy="152705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6943954" y="3592678"/>
            <a:ext cx="4524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Stałe zasady niezależne od emocji</a:t>
            </a:r>
            <a:endParaRPr lang="en-US" sz="1200" dirty="0"/>
          </a:p>
        </p:txBody>
      </p:sp>
      <p:sp>
        <p:nvSpPr>
          <p:cNvPr id="39" name="Shape 27"/>
          <p:cNvSpPr/>
          <p:nvPr/>
        </p:nvSpPr>
        <p:spPr>
          <a:xfrm>
            <a:off x="6505956" y="4012387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6590995" y="4088282"/>
            <a:ext cx="133502" cy="152705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6943954" y="4049878"/>
            <a:ext cx="4524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Jeden plan przed wejściem w trade</a:t>
            </a:r>
            <a:endParaRPr lang="en-US" sz="1200" dirty="0"/>
          </a:p>
        </p:txBody>
      </p:sp>
      <p:sp>
        <p:nvSpPr>
          <p:cNvPr id="42" name="Shape 29"/>
          <p:cNvSpPr/>
          <p:nvPr/>
        </p:nvSpPr>
        <p:spPr>
          <a:xfrm>
            <a:off x="571500" y="5753405"/>
            <a:ext cx="11048695" cy="676656"/>
          </a:xfrm>
          <a:prstGeom prst="roundRect">
            <a:avLst>
              <a:gd name="adj" fmla="val 22840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43" name="Shape 30"/>
          <p:cNvSpPr/>
          <p:nvPr/>
        </p:nvSpPr>
        <p:spPr>
          <a:xfrm>
            <a:off x="571500" y="5753405"/>
            <a:ext cx="11011205" cy="28346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1"/>
          <p:cNvSpPr txBox="1"/>
          <p:nvPr/>
        </p:nvSpPr>
        <p:spPr>
          <a:xfrm>
            <a:off x="800100" y="5962802"/>
            <a:ext cx="105924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2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Trading Zone nie pozwala złamać własnych zasad.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6402" y="428854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Skuteczność potwierdzona na realnym rynku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14807" y="1143000"/>
            <a:ext cx="11163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historyczny na rzeczywistym </a:t>
            </a:r>
            <a:r>
              <a:rPr lang="en-US" sz="1300" dirty="0" err="1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ruchu</a:t>
            </a: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 err="1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cenowym</a:t>
            </a:r>
            <a:r>
              <a:rPr lang="pl-PL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pl-PL" sz="1300" dirty="0" err="1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Bitcoina</a:t>
            </a:r>
            <a:r>
              <a:rPr lang="pl-PL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BTC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446727" y="1573682"/>
            <a:ext cx="32991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2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31.01.2026 01:00 → 15.02.2026 01:00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1500" y="2335378"/>
            <a:ext cx="3504895" cy="3191256"/>
          </a:xfrm>
          <a:prstGeom prst="roundRect">
            <a:avLst>
              <a:gd name="adj" fmla="val 1369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500" y="2335378"/>
            <a:ext cx="3467405" cy="47549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2697480"/>
            <a:ext cx="761695" cy="761695"/>
          </a:xfrm>
          <a:prstGeom prst="roundRect">
            <a:avLst>
              <a:gd name="adj" fmla="val 21008"/>
            </a:avLst>
          </a:prstGeom>
          <a:solidFill>
            <a:srgbClr val="783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3295" y="2887675"/>
            <a:ext cx="381305" cy="3813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16659" y="3687775"/>
            <a:ext cx="1420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51%</a:t>
            </a:r>
            <a:endParaRPr lang="en-US" sz="5400" dirty="0"/>
          </a:p>
        </p:txBody>
      </p:sp>
      <p:sp>
        <p:nvSpPr>
          <p:cNvPr id="12" name="Text 9"/>
          <p:cNvSpPr txBox="1"/>
          <p:nvPr/>
        </p:nvSpPr>
        <p:spPr>
          <a:xfrm>
            <a:off x="2144268" y="4526280"/>
            <a:ext cx="3621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1H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411834" y="4964278"/>
            <a:ext cx="18251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Skuteczność kierunku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43400" y="2335378"/>
            <a:ext cx="3504895" cy="3191256"/>
          </a:xfrm>
          <a:prstGeom prst="roundRect">
            <a:avLst>
              <a:gd name="adj" fmla="val 1369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43400" y="2335378"/>
            <a:ext cx="3467405" cy="47549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15000" y="2697480"/>
            <a:ext cx="761695" cy="761695"/>
          </a:xfrm>
          <a:prstGeom prst="roundRect">
            <a:avLst>
              <a:gd name="adj" fmla="val 21008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05195" y="2887675"/>
            <a:ext cx="381305" cy="38130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301691" y="3687775"/>
            <a:ext cx="15947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65%</a:t>
            </a:r>
            <a:endParaRPr lang="en-US" sz="5400" dirty="0"/>
          </a:p>
        </p:txBody>
      </p:sp>
      <p:sp>
        <p:nvSpPr>
          <p:cNvPr id="19" name="Text 15"/>
          <p:cNvSpPr txBox="1"/>
          <p:nvPr/>
        </p:nvSpPr>
        <p:spPr>
          <a:xfrm>
            <a:off x="5882335" y="4526280"/>
            <a:ext cx="4288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4H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5183734" y="4964278"/>
            <a:ext cx="18251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Skuteczność kierunku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115300" y="2335378"/>
            <a:ext cx="3504895" cy="3191256"/>
          </a:xfrm>
          <a:prstGeom prst="roundRect">
            <a:avLst>
              <a:gd name="adj" fmla="val 1369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115300" y="2335378"/>
            <a:ext cx="3467405" cy="47549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486900" y="2697480"/>
            <a:ext cx="761695" cy="761695"/>
          </a:xfrm>
          <a:prstGeom prst="roundRect">
            <a:avLst>
              <a:gd name="adj" fmla="val 21008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 l="-17" r="-17"/>
          <a:stretch/>
        </p:blipFill>
        <p:spPr>
          <a:xfrm>
            <a:off x="9700870" y="2887675"/>
            <a:ext cx="333756" cy="38130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068105" y="3687775"/>
            <a:ext cx="16047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83%</a:t>
            </a:r>
            <a:endParaRPr lang="en-US" sz="5400" dirty="0"/>
          </a:p>
        </p:txBody>
      </p:sp>
      <p:sp>
        <p:nvSpPr>
          <p:cNvPr id="26" name="Text 21"/>
          <p:cNvSpPr txBox="1"/>
          <p:nvPr/>
        </p:nvSpPr>
        <p:spPr>
          <a:xfrm>
            <a:off x="9685325" y="4526280"/>
            <a:ext cx="3721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1D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8955634" y="4964278"/>
            <a:ext cx="18251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Skuteczność kierunku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71500" y="5792724"/>
            <a:ext cx="11048695" cy="666598"/>
          </a:xfrm>
          <a:prstGeom prst="roundRect">
            <a:avLst>
              <a:gd name="adj" fmla="val 23516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71500" y="5792724"/>
            <a:ext cx="11011205" cy="28346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00100" y="6003036"/>
            <a:ext cx="10592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2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 wyższy interwał, tym wyższa skuteczność — to statystyka, nie obietnica.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01FC16-2A3B-9ABD-E440-38687023D09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678EB2F3-C1C6-FC41-647C-9EE1C3929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74" y="675360"/>
            <a:ext cx="2744210" cy="5951220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FF7026BF-C7C5-408B-952C-535C3C6A4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424" y="1472564"/>
            <a:ext cx="2482551" cy="1606905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B30F98D0-BADC-3B7D-BDC3-E944278ABF9B}"/>
              </a:ext>
            </a:extLst>
          </p:cNvPr>
          <p:cNvSpPr txBox="1"/>
          <p:nvPr/>
        </p:nvSpPr>
        <p:spPr>
          <a:xfrm>
            <a:off x="2293620" y="326290"/>
            <a:ext cx="9824580" cy="402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Skuteczność potwierdzona na realnym rynku</a:t>
            </a:r>
            <a:endParaRPr lang="en-US" sz="2800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BD4B8276-7CE0-8204-8786-A693778EAFFA}"/>
              </a:ext>
            </a:extLst>
          </p:cNvPr>
          <p:cNvSpPr txBox="1"/>
          <p:nvPr/>
        </p:nvSpPr>
        <p:spPr>
          <a:xfrm>
            <a:off x="3532117" y="1055373"/>
            <a:ext cx="1193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400" b="1" kern="0" spc="-37" dirty="0">
                <a:solidFill>
                  <a:srgbClr val="FFFFFF"/>
                </a:solidFill>
                <a:latin typeface="Montserrat" pitchFamily="34" charset="0"/>
              </a:rPr>
              <a:t>Interwał 1D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1F562883-EE37-9719-C836-771C105CC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424" y="3650970"/>
            <a:ext cx="2482551" cy="2697305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73DC3E96-EB9C-7199-7B05-36E58AC45DD9}"/>
              </a:ext>
            </a:extLst>
          </p:cNvPr>
          <p:cNvSpPr txBox="1"/>
          <p:nvPr/>
        </p:nvSpPr>
        <p:spPr>
          <a:xfrm>
            <a:off x="3623557" y="3211331"/>
            <a:ext cx="1241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400" b="1" kern="0" spc="-37" dirty="0">
                <a:solidFill>
                  <a:srgbClr val="FFFFFF"/>
                </a:solidFill>
                <a:latin typeface="Montserrat" pitchFamily="34" charset="0"/>
              </a:rPr>
              <a:t>Interwał 4H</a:t>
            </a: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D5232E03-B73F-8877-74D4-1A5DF835D478}"/>
              </a:ext>
            </a:extLst>
          </p:cNvPr>
          <p:cNvSpPr txBox="1"/>
          <p:nvPr/>
        </p:nvSpPr>
        <p:spPr>
          <a:xfrm>
            <a:off x="1460249" y="762241"/>
            <a:ext cx="11163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historyczny na rzeczywistym </a:t>
            </a:r>
            <a:r>
              <a:rPr lang="en-US" sz="1300" dirty="0" err="1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ruchu</a:t>
            </a: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 err="1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cenowym</a:t>
            </a:r>
            <a:r>
              <a:rPr lang="pl-PL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pl-PL" sz="1300" dirty="0" err="1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Bitcoina</a:t>
            </a:r>
            <a:r>
              <a:rPr lang="pl-PL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BTC</a:t>
            </a:r>
            <a:endParaRPr lang="en-US" sz="13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BB20982C-8835-4A66-D3E4-9CDE84313BCB}"/>
              </a:ext>
            </a:extLst>
          </p:cNvPr>
          <p:cNvSpPr txBox="1"/>
          <p:nvPr/>
        </p:nvSpPr>
        <p:spPr>
          <a:xfrm>
            <a:off x="5480597" y="1043201"/>
            <a:ext cx="32991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2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31.01.2026 01:00 → 15.02.2026 01:00</a:t>
            </a:r>
            <a:endParaRPr lang="en-US" sz="1200" dirty="0"/>
          </a:p>
        </p:txBody>
      </p:sp>
      <p:pic>
        <p:nvPicPr>
          <p:cNvPr id="20" name="Obraz 19">
            <a:extLst>
              <a:ext uri="{FF2B5EF4-FFF2-40B4-BE49-F238E27FC236}">
                <a16:creationId xmlns:a16="http://schemas.microsoft.com/office/drawing/2014/main" id="{7FB9F2DB-8376-909C-9169-D9F08CD9AE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000" y="1363150"/>
            <a:ext cx="6090020" cy="406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808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-83210" y="428854"/>
            <a:ext cx="1235903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Jak to policzyliśmy? Analiza wsteczna (Proof Mode)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14807" y="1143000"/>
            <a:ext cx="11163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Każdy wynik da się odtworzyć i zweryfikować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" y="1687982"/>
            <a:ext cx="5410505" cy="1923898"/>
          </a:xfrm>
          <a:prstGeom prst="roundRect">
            <a:avLst>
              <a:gd name="adj" fmla="val 3294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687982"/>
            <a:ext cx="5372100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9302" y="197327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1949" y="2116836"/>
            <a:ext cx="286207" cy="2862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43507" y="2141525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Analiza wsteczna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19302" y="2697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Możemy cofnąć się do dowolnego momentu (do 500 świec).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0605" y="1687982"/>
            <a:ext cx="5410505" cy="1923898"/>
          </a:xfrm>
          <a:prstGeom prst="roundRect">
            <a:avLst>
              <a:gd name="adj" fmla="val 3294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0605" y="1687982"/>
            <a:ext cx="5372100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58407" y="197327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t="-530" b="-530"/>
          <a:stretch/>
        </p:blipFill>
        <p:spPr>
          <a:xfrm>
            <a:off x="6620256" y="2116836"/>
            <a:ext cx="247802" cy="2862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81698" y="2141525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Dane historyczne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458407" y="2697480"/>
            <a:ext cx="499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Sprawdzamy, jakie wartości miały wszystkie wskaźniki w danym momencie.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71500" y="3834994"/>
            <a:ext cx="5410505" cy="1695298"/>
          </a:xfrm>
          <a:prstGeom prst="roundRect">
            <a:avLst>
              <a:gd name="adj" fmla="val 4242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71500" y="3834994"/>
            <a:ext cx="5372100" cy="38405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9302" y="4120286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4C1D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1949" y="4262933"/>
            <a:ext cx="286207" cy="28620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543507" y="4288536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Odtworzenie wykresu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19302" y="4844491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Jednym kliknięciem dorysowujemy brakującą część wykresu.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210605" y="3834994"/>
            <a:ext cx="5410505" cy="1695298"/>
          </a:xfrm>
          <a:prstGeom prst="roundRect">
            <a:avLst>
              <a:gd name="adj" fmla="val 4242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210605" y="3834994"/>
            <a:ext cx="5372100" cy="38405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458407" y="4120286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783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t="-530" b="-530"/>
          <a:stretch/>
        </p:blipFill>
        <p:spPr>
          <a:xfrm>
            <a:off x="6620256" y="4262933"/>
            <a:ext cx="247802" cy="28620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81698" y="4288536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Weryfikacja wyniku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6458407" y="4844491"/>
            <a:ext cx="5429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Sprawdzamy, czy sygnał rzeczywiście był zgodny z ruchem rynku.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71500" y="5753405"/>
            <a:ext cx="11048695" cy="676656"/>
          </a:xfrm>
          <a:prstGeom prst="roundRect">
            <a:avLst>
              <a:gd name="adj" fmla="val 22840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71500" y="5753405"/>
            <a:ext cx="11011205" cy="28346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800100" y="5962802"/>
            <a:ext cx="105924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2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nie backtest „na papierze". To odtwarzalny dowód.</a:t>
            </a:r>
            <a:endParaRPr lang="en-US" sz="1300" dirty="0"/>
          </a:p>
        </p:txBody>
      </p:sp>
      <p:pic>
        <p:nvPicPr>
          <p:cNvPr id="33" name="Obraz 32">
            <a:extLst>
              <a:ext uri="{FF2B5EF4-FFF2-40B4-BE49-F238E27FC236}">
                <a16:creationId xmlns:a16="http://schemas.microsoft.com/office/drawing/2014/main" id="{3BEA64AF-CBB4-8A43-2196-72265C9979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959912"/>
            <a:ext cx="4468978" cy="5778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6402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Dwa produkty. Jeden ekosystem.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14807" y="1095451"/>
            <a:ext cx="11163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 emocji. Z dowodem. Z kontrolą ryzyka.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" y="1563624"/>
            <a:ext cx="5391302" cy="3258007"/>
          </a:xfrm>
          <a:prstGeom prst="roundRect">
            <a:avLst>
              <a:gd name="adj" fmla="val 1149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563624"/>
            <a:ext cx="5352898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9302" y="1830629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2007" y="1983334"/>
            <a:ext cx="304495" cy="3044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80998" y="2009851"/>
            <a:ext cx="42483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Trading Zone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19302" y="2630729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895198" y="2697480"/>
            <a:ext cx="114300" cy="1335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00607" y="2611526"/>
            <a:ext cx="46296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Short-term / aktywny trading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9302" y="3040380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6054" y="3107131"/>
            <a:ext cx="133502" cy="1335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00607" y="3021178"/>
            <a:ext cx="46296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 + Echo + Setup Score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19302" y="3450031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6054" y="3516782"/>
            <a:ext cx="133502" cy="1335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00607" y="3430829"/>
            <a:ext cx="46296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Automatyczne SL/TP i dyscyplina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819302" y="3859682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6054" y="3926434"/>
            <a:ext cx="133502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00607" y="3840480"/>
            <a:ext cx="46296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Proof: historia zmian trendu (15m / 1h / 4h / 1D)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6229807" y="1563624"/>
            <a:ext cx="5391302" cy="3258007"/>
          </a:xfrm>
          <a:prstGeom prst="roundRect">
            <a:avLst>
              <a:gd name="adj" fmla="val 1149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229807" y="1563624"/>
            <a:ext cx="5352898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76695" y="1830629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29400" y="1983334"/>
            <a:ext cx="304495" cy="30449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239305" y="2009851"/>
            <a:ext cx="42483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ProjectAntyScam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6476695" y="2630729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43446" y="2697480"/>
            <a:ext cx="133502" cy="13350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858000" y="2611526"/>
            <a:ext cx="46296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 / inwestowanie bez pułapek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6476695" y="3040380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43446" y="3107131"/>
            <a:ext cx="133502" cy="13350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858000" y="3021178"/>
            <a:ext cx="47210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Skany 24/7 + system mailingowy (GO / REVIEW / NO-GO)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6476695" y="3450031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543446" y="3516782"/>
            <a:ext cx="133502" cy="133502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6858000" y="3430829"/>
            <a:ext cx="51636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Analiza poza kodem: holderzy, finansowanie, centralizacja</a:t>
            </a:r>
            <a:endParaRPr lang="en-US" sz="1100" dirty="0"/>
          </a:p>
        </p:txBody>
      </p:sp>
      <p:sp>
        <p:nvSpPr>
          <p:cNvPr id="36" name="Shape 25"/>
          <p:cNvSpPr/>
          <p:nvPr/>
        </p:nvSpPr>
        <p:spPr>
          <a:xfrm>
            <a:off x="6476695" y="3859682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2"/>
          <a:srcRect t="-1100" b="-1100"/>
          <a:stretch/>
        </p:blipFill>
        <p:spPr>
          <a:xfrm>
            <a:off x="6553505" y="3926434"/>
            <a:ext cx="114300" cy="133502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6858000" y="3840480"/>
            <a:ext cx="46296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+ weryfikacja na Etherscan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81305" y="333756"/>
            <a:ext cx="114300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kern="0" spc="-3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Ile to kosztuje?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18795" y="1028700"/>
            <a:ext cx="113541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Standardowo — więcej. Na targach — dużo mniej.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6402" y="1459382"/>
            <a:ext cx="3590849" cy="3467405"/>
          </a:xfrm>
          <a:prstGeom prst="roundRect">
            <a:avLst>
              <a:gd name="adj" fmla="val 1159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6402" y="1459382"/>
            <a:ext cx="3549701" cy="38405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36699" y="1744675"/>
            <a:ext cx="666598" cy="666598"/>
          </a:xfrm>
          <a:prstGeom prst="roundRect">
            <a:avLst>
              <a:gd name="adj" fmla="val 27435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98548" y="1906524"/>
            <a:ext cx="342900" cy="3429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48410" y="2583180"/>
            <a:ext cx="165049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Trading Zone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563624" y="2992831"/>
            <a:ext cx="141732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Short-term trading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657807" y="3712464"/>
            <a:ext cx="163403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39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r>
              <a:rPr lang="en-US" sz="39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zł</a:t>
            </a:r>
            <a:endParaRPr lang="en-US" sz="3900" dirty="0"/>
          </a:p>
        </p:txBody>
      </p:sp>
      <p:sp>
        <p:nvSpPr>
          <p:cNvPr id="13" name="Text 10"/>
          <p:cNvSpPr txBox="1"/>
          <p:nvPr/>
        </p:nvSpPr>
        <p:spPr>
          <a:xfrm>
            <a:off x="1959559" y="4246474"/>
            <a:ext cx="7488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miesiąc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92194" y="1459382"/>
            <a:ext cx="3610051" cy="3467405"/>
          </a:xfrm>
          <a:prstGeom prst="roundRect">
            <a:avLst>
              <a:gd name="adj" fmla="val 1159"/>
            </a:avLst>
          </a:prstGeom>
          <a:solidFill>
            <a:srgbClr val="1E293B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2194" y="1459382"/>
            <a:ext cx="3549701" cy="38405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46090" y="1682496"/>
            <a:ext cx="705002" cy="705002"/>
          </a:xfrm>
          <a:prstGeom prst="roundRect">
            <a:avLst>
              <a:gd name="adj" fmla="val 24538"/>
            </a:avLst>
          </a:prstGeom>
          <a:solidFill>
            <a:srgbClr val="7835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l="-1052" r="-1052"/>
          <a:stretch/>
        </p:blipFill>
        <p:spPr>
          <a:xfrm>
            <a:off x="5880506" y="1842516"/>
            <a:ext cx="437998" cy="38130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274259" y="2563063"/>
            <a:ext cx="165049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Pakiet Pełny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821631" y="2992831"/>
            <a:ext cx="25511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TZ + PA • Pełna kontrola decyzji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337353" y="3749040"/>
            <a:ext cx="196504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39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349</a:t>
            </a:r>
            <a:r>
              <a:rPr lang="en-US" sz="39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zł</a:t>
            </a:r>
            <a:endParaRPr lang="en-US" sz="3900" dirty="0"/>
          </a:p>
        </p:txBody>
      </p:sp>
      <p:sp>
        <p:nvSpPr>
          <p:cNvPr id="22" name="Text 18"/>
          <p:cNvSpPr txBox="1"/>
          <p:nvPr/>
        </p:nvSpPr>
        <p:spPr>
          <a:xfrm>
            <a:off x="5768950" y="4308653"/>
            <a:ext cx="782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miesiąc</a:t>
            </a:r>
            <a:endParaRPr lang="en-US" sz="11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034" y="1562710"/>
            <a:ext cx="1126542" cy="20393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76034" y="1562710"/>
            <a:ext cx="1127455" cy="18196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NAJLEPSZA WARTOŚĆ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8128102" y="1459382"/>
            <a:ext cx="3590849" cy="3467405"/>
          </a:xfrm>
          <a:prstGeom prst="roundRect">
            <a:avLst>
              <a:gd name="adj" fmla="val 1159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128102" y="1459382"/>
            <a:ext cx="3549701" cy="3840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588398" y="1744675"/>
            <a:ext cx="666598" cy="666598"/>
          </a:xfrm>
          <a:prstGeom prst="roundRect">
            <a:avLst>
              <a:gd name="adj" fmla="val 27435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750247" y="1906524"/>
            <a:ext cx="342900" cy="3429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888882" y="2583180"/>
            <a:ext cx="20674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ProjectAntyScam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9013241" y="2992831"/>
            <a:ext cx="1824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 inwestowanie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9659722" y="3369564"/>
            <a:ext cx="63550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199 zł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9264701" y="3712464"/>
            <a:ext cx="194858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r>
              <a:rPr lang="pl-PL" sz="39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r>
              <a:rPr lang="en-US" sz="3900" b="1" dirty="0">
                <a:solidFill>
                  <a:srgbClr val="10B98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zł</a:t>
            </a:r>
            <a:endParaRPr lang="en-US" sz="3900" dirty="0"/>
          </a:p>
        </p:txBody>
      </p:sp>
      <p:sp>
        <p:nvSpPr>
          <p:cNvPr id="33" name="Text 27"/>
          <p:cNvSpPr txBox="1"/>
          <p:nvPr/>
        </p:nvSpPr>
        <p:spPr>
          <a:xfrm>
            <a:off x="9611258" y="4246474"/>
            <a:ext cx="7488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miesiąc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76402" y="5107838"/>
            <a:ext cx="11239805" cy="1561795"/>
          </a:xfrm>
          <a:prstGeom prst="roundRect">
            <a:avLst>
              <a:gd name="adj" fmla="val 4284"/>
            </a:avLst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76402" y="5107838"/>
            <a:ext cx="11201400" cy="28346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66598" y="5298948"/>
            <a:ext cx="10858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666598" y="5555894"/>
            <a:ext cx="10858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38" name="Text 32"/>
          <p:cNvSpPr txBox="1"/>
          <p:nvPr/>
        </p:nvSpPr>
        <p:spPr>
          <a:xfrm>
            <a:off x="666598" y="6070702"/>
            <a:ext cx="10858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 dostępna tylko dla uczestników targów (limited time / limited slots)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666598" y="6293815"/>
            <a:ext cx="10858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Aktywuj plan online lub </a:t>
            </a:r>
            <a:r>
              <a:rPr lang="en-US" sz="900" b="1" dirty="0" err="1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podejdź</a:t>
            </a: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pl-PL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naszego </a:t>
            </a:r>
            <a:r>
              <a:rPr lang="en-US" sz="900" b="1" dirty="0" err="1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stoisk</a:t>
            </a:r>
            <a:r>
              <a:rPr lang="pl-PL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1410</Words>
  <Application>Microsoft Office PowerPoint</Application>
  <PresentationFormat>Panoramiczny</PresentationFormat>
  <Paragraphs>247</Paragraphs>
  <Slides>18</Slides>
  <Notes>16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18</vt:i4>
      </vt:variant>
    </vt:vector>
  </HeadingPairs>
  <TitlesOfParts>
    <vt:vector size="22" baseType="lpstr">
      <vt:lpstr>Arial</vt:lpstr>
      <vt:lpstr>Inter</vt:lpstr>
      <vt:lpstr>Montserrat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Mariusz Jaworski</cp:lastModifiedBy>
  <cp:revision>36</cp:revision>
  <dcterms:created xsi:type="dcterms:W3CDTF">2026-02-18T15:33:09Z</dcterms:created>
  <dcterms:modified xsi:type="dcterms:W3CDTF">2026-03-06T09:08:49Z</dcterms:modified>
</cp:coreProperties>
</file>